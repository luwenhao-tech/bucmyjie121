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</p:sldMasterIdLst>
  <p:notesMasterIdLst>
    <p:notesMasterId r:id="rId10"/>
  </p:notesMasterIdLst>
  <p:sldIdLst>
    <p:sldId id="256" r:id="rId9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76" r:id="rId19"/>
    <p:sldId id="272" r:id="rId20"/>
    <p:sldId id="277" r:id="rId21"/>
    <p:sldId id="278" r:id="rId22"/>
    <p:sldId id="265" r:id="rId23"/>
    <p:sldId id="266" r:id="rId24"/>
    <p:sldId id="267" r:id="rId25"/>
    <p:sldId id="279" r:id="rId26"/>
    <p:sldId id="268" r:id="rId27"/>
    <p:sldId id="269" r:id="rId28"/>
    <p:sldId id="270" r:id="rId29"/>
    <p:sldId id="271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尊敬的各位评委、老师，大家好。今天我汇报的题目是《国内桑属物种ITS2序列数据清洗与分析报告》。本次研究旨在通过对现有DNA条形码数据进行严格的清洗和再分析，重新评估ITS2序列在桑白皮及其混伪品鉴定中的真实效能。我们发现，数据质量对研究结论有着决定性的影响。接下来，我将详细介绍我们的研究过程与发现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本次汇报将分为五个部分。首先，我将介绍研究的背景与动机。其次，会详细说明我们的数据来源、清洗流程和分析方法。第三部分是本次研究的核心，我们将通过对比数据清洗前后的结果，揭示原始数据库的缺陷。第四部分，我们将从植物学和中药鉴定学两个专业视角，对清洗后的数据进行深度分析。最后，总结我们的研究结论并对未来工作进行展望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首先我们来看研究背景。桑白皮作为一种重要的中药材，其市场需求量大，但鉴定问题一直困扰着行业。由于存在许多形态相似的混伪品，传统的鉴定方法非常依赖经验，且在药材经过切片、炮制等加工后，特征变得不典型，极易出错。为了解决这一难题，我们引入了DNA条形码技术。这项技术通过比较物种间特定DNA片段的差异来进行鉴定，具有快速、准确、客观的优点，为桑白皮的精准鉴定提供了新的途径。</a:t>
            </a:r>
            <a:endParaRPr lang="en-US" sz="12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我们的研究动机源于对一篇已发表文献的质疑。该文献声称，利用ITS2序列可以成功区分桑白皮正品和伪品。然而，在复现其研究时，我们发现其使用的序列数据库存在明显问题：一方面，它忽略了许多物种内在的遗传多样性；另一方面，数据库中存在大量重复数据。这些偏差可能导致结论的偏颇。因此，我们的研究目的就是对这些数据进行严格的清洗和修正，以揭示ITS2序列在桑白皮鉴定中的真实能力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接下来介绍我们的研究方法。我们的数据主要来源于国际权威的NCBI数据库。我们采用了两种核心分析方法：首先，使用DNAMAN软件对序列进行比对，直观地找出不同物种间的差异位点；其次，使用MEGA软件构建系统发育树，通过物种在进化树上的聚类情况，来判断它们之间的亲缘关系远近，从而评估鉴定效果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本研究的核心在于数据清洗。我们遵循了四个关键步骤：首先，对原始文献的数据进行仔细审查，找出其中的重复序列；其次，利用专业软件去除这些冗余数据；接着，我们重新搜索数据库，补充了原始研究中缺失的重要遗传信息；最后，将处理后的数据整合成一个全新的、更严谨的分析数据库。这个过程确保了我们后续分析的基础是坚实可靠的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直观地展示了数据清洗带来的巨大差异。上方左侧是基于原始文献数据库构建的系统发育树，正品桑的序列形成了一个独立的分支。但上方右侧，是我们使用清洗后更完整的数据库构建的进化树，结果截然不同：正品桑的序列与鸡桑、黑桑等近缘伪品混杂在一起，无法区分。这雄辩地证明，原始研究的结论是有偏差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在严谨的数据库基础上，我们从植物学角度深入分析了ITS2序列。这张系统发育树显示，大部分桑属物种都混杂在一个大的分支里。具体来说，ITS2序列能够区分桑与吉隆桑等少数远缘物种，但对于我们更关心的鸡桑、华桑、黑桑等近缘物种，ITS2序列几乎没有鉴别能力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为了更直观地展示，我们来看两个序列比对的例子。左图是桑和吉隆桑的比对结果，可以看到存在大量差异位点。而右图是桑和鸡桑的比对，可以看到序列几乎完全一致。这从分子层面解释了为什么ITS2无法区分桑白皮正品和鸡桑伪品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为了更直观地展示，我们来看两个序列比对的例子。左图是桑和吉隆桑的比对结果，可以看到存在大量差异位点。而右图是桑和鸡桑的比对，可以看到序列几乎完全一致。这从分子层面解释了为什么ITS2无法区分桑白皮正品和鸡桑伪品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为了更直观地展示，我们来看两个序列比对的例子。左图是桑和吉隆桑的比对结果，可以看到存在大量差异位点。而右图是桑和鸡桑的比对，可以看到序列几乎完全一致。这从分子层面解释了为什么ITS2无法区分桑白皮正品和鸡桑伪品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为了更直观地展示，我们来看两个序列比对的例子。左图是桑和吉隆桑的比对结果，可以看到存在大量差异位点。而右图是桑和鸡桑的比对，可以看到序列几乎完全一致。这从分子层面解释了为什么ITS2无法区分桑白皮正品和鸡桑伪品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为了更直观地展示，我们来看两个序列比对的例子。左图是桑和吉隆桑的比对结果，可以看到存在大量差异位点。而右图是桑和鸡桑的比对，可以看到序列几乎完全一致。这从分子层面解释了为什么ITS2无法区分桑白皮正品和鸡桑伪品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我们还测试了另一个常用的条形码片段psbA-trnH。结果显示，它的表现比ITS2更差。从这张系统发育树可以看出，所有桑属物种都混杂在一个分支里，完全无法区分。因此，我们得出结论，psbA-trnH序列不适合用于桑属植物的物种鉴定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现在，我们切换到中药鉴定学的视角。这张图展示了桑白皮与常见伪品的对比。我们可以看到，对于构树、柘树这类非桑属的伪品，ITS2序列能够轻松将它们区分开，这在市场监管中具有重要价值。然而，对于鸡桑、华桑这类桑属内的伪品，ITS2依然无能为力，这是目前技术应用的瓶颈所在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同样，我们通过序列比对来直观感受。左图是桑和构树的比对，差异非常明显。而右图是桑和华桑的比对，序列几乎完全一致。这说明，在实际工作中，ITS2可以有效地把桑白皮和构树这类常见伪品区分开，但对于华桑这种“高仿”伪品，则束手无策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同样，我们通过序列比对来直观感受。左图是桑和构树的比对，差异非常明显。而右图是桑和华桑的比对，序列几乎完全一致。这说明，在实际工作中，ITS2可以有效地把桑白皮和构树这类常见伪品区分开，但对于华桑这种“高仿”伪品，则束手无策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对于psbA-trnH序列，它在中药鉴定学视角下的表现与ITS2类似。从这张进化树可以看出，它同样能将桑属与构树、柘树等其他属的伪品区分开，但对于桑属内部的近缘伪品，同样无法有效鉴别。因此，两种序列在应用上具有相似的特点和局限性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最后，我们总结一下本次研究的核心结论。第一，我们证实了数据质量对于研究结论的决定性作用。第二，明确了ITS2序列的真实效能：它能有效区分桑白皮和非桑属伪品，但对鸡桑、华桑等近缘伪品则无能为力。第三，我们发现psbA-trnH序列在桑属内的鉴别能力非常有限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我们的研究带来两点重要启示：首先，在任何科学研究中，数据的严谨性都是第一位的。其次，我们要审慎地看待和引用文献，保持批判性思维。展望未来，为了解决当前的鉴定瓶颈，我们需要继续探索更有效的DNA条形码片段，或者尝试多基因联合分析的方法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我的汇报到此结束。感谢各位评委和老师的聆听，恳请批评指正。谢谢大家！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.png"/><Relationship Id="rId6" Type="http://schemas.openxmlformats.org/officeDocument/2006/relationships/tags" Target="../tags/tag14.xml"/><Relationship Id="rId5" Type="http://schemas.openxmlformats.org/officeDocument/2006/relationships/image" Target="../media/image3.png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8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781300"/>
            <a:ext cx="12192000" cy="41021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t="10894"/>
          <a:stretch>
            <a:fillRect/>
          </a:stretch>
        </p:blipFill>
        <p:spPr>
          <a:xfrm>
            <a:off x="0" y="-139700"/>
            <a:ext cx="12192000" cy="2908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58800" y="2844800"/>
            <a:ext cx="110236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研究成果汇报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292600" y="4965700"/>
            <a:ext cx="16383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dist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汇报人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105400" y="6400800"/>
            <a:ext cx="1943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2026年6月30日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485900" y="3594100"/>
            <a:ext cx="92837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国内桑属物种DNA序列数据清洗与分析报告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020300" y="6197600"/>
            <a:ext cx="21590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5905500" y="4965700"/>
            <a:ext cx="4152900" cy="469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：王浩宇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>
            <a:off x="1346200" y="3517900"/>
            <a:ext cx="944880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FFFFFF">
                    <a:alpha val="1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prstDash val="solid"/>
            <a:miter lim="100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83643" b="1486"/>
          <a:stretch>
            <a:fillRect/>
          </a:stretch>
        </p:blipFill>
        <p:spPr>
          <a:xfrm>
            <a:off x="0" y="114300"/>
            <a:ext cx="12192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27000"/>
            <a:ext cx="17145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Page 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 rot="5400000">
            <a:off x="558800" y="2971800"/>
            <a:ext cx="44450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6600" b="1" i="0" u="none" strike="noStrike">
                <a:solidFill>
                  <a:srgbClr val="92AC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CONTENT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365500" y="2908300"/>
            <a:ext cx="800100" cy="1308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eaVert" wrap="square" lIns="88900" tIns="50800" rIns="88900" bIns="50800" rtlCol="0" anchor="t" anchorCtr="0"/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334D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目录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83230">
            <a:off x="1974842" y="3625858"/>
            <a:ext cx="520701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4D7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3"/>
            </p:custDataLst>
          </p:nvPr>
        </p:nvSpPr>
        <p:spPr>
          <a:xfrm rot="10800000" flipV="1">
            <a:off x="5156200" y="1625600"/>
            <a:ext cx="482600" cy="393700"/>
          </a:xfrm>
          <a:prstGeom prst="roundRect">
            <a:avLst>
              <a:gd name="adj" fmla="val 9677"/>
            </a:avLst>
          </a:prstGeom>
          <a:solidFill>
            <a:srgbClr val="334D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一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4"/>
            </p:custDataLst>
          </p:nvPr>
        </p:nvSpPr>
        <p:spPr>
          <a:xfrm>
            <a:off x="5816600" y="1524000"/>
            <a:ext cx="38862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334D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研究背景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5"/>
            </p:custDataLst>
          </p:nvPr>
        </p:nvSpPr>
        <p:spPr>
          <a:xfrm rot="10800000" flipV="1">
            <a:off x="5156200" y="2343150"/>
            <a:ext cx="482600" cy="393700"/>
          </a:xfrm>
          <a:prstGeom prst="roundRect">
            <a:avLst>
              <a:gd name="adj" fmla="val 9677"/>
            </a:avLst>
          </a:prstGeom>
          <a:solidFill>
            <a:srgbClr val="334D7F"/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二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5816600" y="2247900"/>
            <a:ext cx="35814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800" b="1" i="0" u="none" strike="noStrike">
                <a:solidFill>
                  <a:srgbClr val="334D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文献分析</a:t>
            </a:r>
            <a:r>
              <a:rPr lang="zh-CN" altLang="en-US" sz="2800" b="1" i="0" u="none" strike="noStrike">
                <a:solidFill>
                  <a:srgbClr val="334D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</a:t>
            </a:r>
            <a:endParaRPr lang="zh-CN" altLang="en-US" sz="2800" b="1" i="0" u="none" strike="noStrike">
              <a:solidFill>
                <a:srgbClr val="334D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7"/>
            </p:custDataLst>
          </p:nvPr>
        </p:nvSpPr>
        <p:spPr>
          <a:xfrm rot="10800000" flipV="1">
            <a:off x="5156200" y="3035300"/>
            <a:ext cx="482600" cy="393700"/>
          </a:xfrm>
          <a:prstGeom prst="roundRect">
            <a:avLst>
              <a:gd name="adj" fmla="val 9677"/>
            </a:avLst>
          </a:prstGeom>
          <a:solidFill>
            <a:srgbClr val="334D7F"/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三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8"/>
            </p:custDataLst>
          </p:nvPr>
        </p:nvSpPr>
        <p:spPr>
          <a:xfrm>
            <a:off x="5816600" y="2946400"/>
            <a:ext cx="4445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800" b="1" i="0" u="none" strike="noStrike">
                <a:solidFill>
                  <a:srgbClr val="334D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植物学</a:t>
            </a:r>
            <a:r>
              <a:rPr lang="zh-CN" altLang="en-US" sz="2800" b="1" i="0" u="none" strike="noStrike">
                <a:solidFill>
                  <a:srgbClr val="334D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分析</a:t>
            </a:r>
            <a:endParaRPr lang="zh-CN" altLang="en-US" sz="2800" b="1" i="0" u="none" strike="noStrike">
              <a:solidFill>
                <a:srgbClr val="334D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9"/>
            </p:custDataLst>
          </p:nvPr>
        </p:nvSpPr>
        <p:spPr>
          <a:xfrm rot="10800000" flipV="1">
            <a:off x="5156200" y="3746500"/>
            <a:ext cx="482600" cy="393700"/>
          </a:xfrm>
          <a:prstGeom prst="roundRect">
            <a:avLst>
              <a:gd name="adj" fmla="val 9677"/>
            </a:avLst>
          </a:prstGeom>
          <a:solidFill>
            <a:srgbClr val="334D7F"/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四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0"/>
            </p:custDataLst>
          </p:nvPr>
        </p:nvSpPr>
        <p:spPr>
          <a:xfrm>
            <a:off x="5816600" y="3657600"/>
            <a:ext cx="4445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800" b="1" i="0" u="none" strike="noStrike">
                <a:solidFill>
                  <a:srgbClr val="334D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中药鉴定学</a:t>
            </a:r>
            <a:r>
              <a:rPr lang="zh-CN" altLang="en-US" sz="2800" b="1" i="0" u="none" strike="noStrike">
                <a:solidFill>
                  <a:srgbClr val="334D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分析</a:t>
            </a:r>
            <a:endParaRPr lang="zh-CN" altLang="en-US" sz="2800" b="1" i="0" u="none" strike="noStrike">
              <a:solidFill>
                <a:srgbClr val="334D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1"/>
            </p:custDataLst>
          </p:nvPr>
        </p:nvSpPr>
        <p:spPr>
          <a:xfrm rot="10800000" flipV="1">
            <a:off x="5156200" y="4457700"/>
            <a:ext cx="482600" cy="393700"/>
          </a:xfrm>
          <a:prstGeom prst="roundRect">
            <a:avLst>
              <a:gd name="adj" fmla="val 9677"/>
            </a:avLst>
          </a:prstGeom>
          <a:solidFill>
            <a:srgbClr val="334D7F"/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五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2"/>
            </p:custDataLst>
          </p:nvPr>
        </p:nvSpPr>
        <p:spPr>
          <a:xfrm>
            <a:off x="5816600" y="4368800"/>
            <a:ext cx="4445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334D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研究结论与展望</a:t>
            </a:r>
            <a:endParaRPr lang="en-US" sz="2800" b="1" i="0" u="none" strike="noStrike">
              <a:solidFill>
                <a:srgbClr val="334D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-25400" y="622300"/>
            <a:ext cx="2284095" cy="6111875"/>
          </a:xfrm>
          <a:custGeom>
            <a:avLst/>
            <a:gdLst/>
            <a:ahLst/>
            <a:cxnLst/>
            <a:rect l="l" t="t" r="r" b="b"/>
            <a:pathLst>
              <a:path w="2284095" h="6111875">
                <a:moveTo>
                  <a:pt x="0" y="0"/>
                </a:moveTo>
                <a:lnTo>
                  <a:pt x="1885950" y="0"/>
                </a:lnTo>
                <a:lnTo>
                  <a:pt x="1878330" y="12700"/>
                </a:lnTo>
                <a:cubicBezTo>
                  <a:pt x="1379855" y="828675"/>
                  <a:pt x="1028065" y="2211070"/>
                  <a:pt x="1164590" y="3509010"/>
                </a:cubicBezTo>
                <a:cubicBezTo>
                  <a:pt x="1280795" y="4610735"/>
                  <a:pt x="1757045" y="5398135"/>
                  <a:pt x="2268855" y="6091555"/>
                </a:cubicBezTo>
                <a:lnTo>
                  <a:pt x="2284095" y="6111875"/>
                </a:lnTo>
                <a:lnTo>
                  <a:pt x="0" y="6111875"/>
                </a:lnTo>
                <a:lnTo>
                  <a:pt x="0" y="0"/>
                </a:lnTo>
                <a:close/>
              </a:path>
            </a:pathLst>
          </a:custGeom>
          <a:solidFill>
            <a:srgbClr val="92ACD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-800100" y="406400"/>
            <a:ext cx="2520315" cy="6330950"/>
          </a:xfrm>
          <a:custGeom>
            <a:avLst/>
            <a:gdLst/>
            <a:ahLst/>
            <a:cxnLst/>
            <a:rect l="l" t="t" r="r" b="b"/>
            <a:pathLst>
              <a:path w="2520315" h="6330950">
                <a:moveTo>
                  <a:pt x="76200" y="2165350"/>
                </a:moveTo>
                <a:lnTo>
                  <a:pt x="146050" y="0"/>
                </a:lnTo>
                <a:lnTo>
                  <a:pt x="2431415" y="784225"/>
                </a:lnTo>
                <a:cubicBezTo>
                  <a:pt x="1906270" y="1624330"/>
                  <a:pt x="1161415" y="3314065"/>
                  <a:pt x="1821815" y="5027930"/>
                </a:cubicBezTo>
                <a:cubicBezTo>
                  <a:pt x="2099310" y="5748655"/>
                  <a:pt x="2266315" y="5982970"/>
                  <a:pt x="2520315" y="6324600"/>
                </a:cubicBezTo>
                <a:lnTo>
                  <a:pt x="2132965" y="6330950"/>
                </a:lnTo>
                <a:lnTo>
                  <a:pt x="0" y="6305550"/>
                </a:lnTo>
                <a:lnTo>
                  <a:pt x="76200" y="2165350"/>
                </a:lnTo>
                <a:close/>
              </a:path>
            </a:pathLst>
          </a:custGeom>
          <a:solidFill>
            <a:srgbClr val="6487C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2540" y="622300"/>
            <a:ext cx="2216785" cy="6119495"/>
          </a:xfrm>
          <a:custGeom>
            <a:avLst/>
            <a:gdLst/>
            <a:ahLst/>
            <a:cxnLst/>
            <a:rect l="l" t="t" r="r" b="b"/>
            <a:pathLst>
              <a:path w="2216785" h="6119495">
                <a:moveTo>
                  <a:pt x="0" y="0"/>
                </a:moveTo>
                <a:lnTo>
                  <a:pt x="2216785" y="0"/>
                </a:lnTo>
                <a:lnTo>
                  <a:pt x="2216785" y="5067"/>
                </a:lnTo>
                <a:lnTo>
                  <a:pt x="2185035" y="33575"/>
                </a:lnTo>
                <a:cubicBezTo>
                  <a:pt x="1694180" y="471949"/>
                  <a:pt x="1258570" y="1041455"/>
                  <a:pt x="930275" y="1712952"/>
                </a:cubicBezTo>
                <a:cubicBezTo>
                  <a:pt x="145415" y="3318210"/>
                  <a:pt x="200660" y="5044465"/>
                  <a:pt x="955675" y="6099223"/>
                </a:cubicBezTo>
                <a:lnTo>
                  <a:pt x="970915" y="6119495"/>
                </a:lnTo>
                <a:lnTo>
                  <a:pt x="0" y="6119495"/>
                </a:lnTo>
                <a:lnTo>
                  <a:pt x="0" y="0"/>
                </a:lnTo>
                <a:close/>
              </a:path>
            </a:pathLst>
          </a:custGeom>
          <a:solidFill>
            <a:srgbClr val="334D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0" y="1282700"/>
            <a:ext cx="12204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215900" y="660400"/>
            <a:ext cx="1187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研究背景：桑白皮的鉴定挑战</a:t>
            </a:r>
            <a:endParaRPr lang="en-US" sz="32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83643" b="1486"/>
          <a:stretch>
            <a:fillRect/>
          </a:stretch>
        </p:blipFill>
        <p:spPr>
          <a:xfrm>
            <a:off x="0" y="114300"/>
            <a:ext cx="12192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27000"/>
            <a:ext cx="17145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Page 01</a:t>
            </a:r>
            <a:endParaRPr lang="en-US" sz="1400" b="0" i="0" u="none" strike="noStrike">
              <a:solidFill>
                <a:srgbClr val="FFFFFF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92100" y="1841500"/>
            <a:ext cx="113030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101600" rIns="88900" bIns="101600" rtlCol="0" anchor="t" anchorCtr="0"/>
          <a:lstStyle>
            <a:lvl1pPr marL="736600" indent="-279400"/>
            <a:lvl2pPr marL="1193800" indent="-279400"/>
            <a:lvl3pPr marL="1651000" indent="-279400"/>
            <a:lvl4pPr marL="2108200" indent="-279400"/>
            <a:lvl5pPr marL="2565400" indent="-279400"/>
            <a:lvl6pPr marL="3022600" indent="-279400"/>
            <a:lvl7pPr marL="3479800" indent="-279400"/>
            <a:lvl8pPr marL="3937000" indent="-279400"/>
            <a:lvl9pPr marL="4394200" indent="-279400"/>
          </a:lstStyle>
          <a:p>
            <a:pPr marL="457200" indent="-457200" algn="l">
              <a:lnSpc>
                <a:spcPct val="117000"/>
              </a:lnSpc>
              <a:buClr>
                <a:srgbClr val="002060"/>
              </a:buClr>
              <a:buFont typeface="Arial" panose="020B0604020202020204"/>
              <a:buChar char="•"/>
              <a:defRPr/>
            </a:pPr>
            <a:r>
              <a:rPr lang="en-US" sz="24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鉴定复杂性：基源混杂与伪品泛滥</a:t>
            </a:r>
            <a:br>
              <a:rPr lang="en-US" sz="1800" b="0" i="0" u="none" strike="noStrike">
                <a:solidFill>
                  <a:srgbClr val="1F2329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</a:b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桑白皮常与鸡桑、华桑等近缘物种混淆，且市场上易出现构树、柘树等伪品冒充现象，这些物种形态特征高度相似，常规手段难以区分。</a:t>
            </a:r>
            <a:endParaRPr lang="en-US" sz="11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lnSpc>
                <a:spcPct val="117000"/>
              </a:lnSpc>
              <a:buClr>
                <a:srgbClr val="002060"/>
              </a:buClr>
              <a:buFont typeface="Arial" panose="020B0604020202020204"/>
              <a:buChar char="•"/>
            </a:pPr>
            <a:r>
              <a:rPr lang="en-US" sz="24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传统方法局限：主观性强且特征失真</a:t>
            </a:r>
            <a:br>
              <a:rPr lang="en-US" sz="1800" b="0" i="0" u="none" strike="noStrike">
                <a:solidFill>
                  <a:srgbClr val="1F2329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</a:b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传统形态学鉴定依赖经验判断，主观性强；而药材经切片、炮制等加工后，外观与显微特征易受损，导致鉴定准确率大幅下降。</a:t>
            </a:r>
            <a:endParaRPr lang="en-US" sz="18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  <a:p>
            <a:pPr marL="457200" indent="-457200" algn="l">
              <a:lnSpc>
                <a:spcPct val="117000"/>
              </a:lnSpc>
              <a:buClr>
                <a:srgbClr val="002060"/>
              </a:buClr>
              <a:buFont typeface="Arial" panose="020B0604020202020204"/>
              <a:buChar char="•"/>
            </a:pPr>
            <a:r>
              <a:rPr lang="en-US" sz="24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技术破局：DNA条形码的精准应用</a:t>
            </a:r>
            <a:br>
              <a:rPr lang="en-US" sz="1600" b="0" i="0" u="none" strike="noStrike">
                <a:solidFill>
                  <a:srgbClr val="1F2329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</a:b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引入ITS2等特异性DNA片段作为分子标记，通过序列比对实现客观、稳定的物种识别，突破传统鉴定瓶颈，为桑白皮真伪鉴别提供可靠依据</a:t>
            </a:r>
            <a:r>
              <a:rPr lang="en-US" sz="18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。</a:t>
            </a:r>
            <a:endParaRPr lang="en-US" sz="18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292100" y="5524500"/>
            <a:ext cx="11603355" cy="913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1" i="0" u="none" strike="noStrike">
                <a:solidFill>
                  <a:srgbClr val="FF0000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  <a:sym typeface="微软雅黑" panose="020B0503020204020204" charset="-122"/>
              </a:rPr>
              <a:t>总结：</a:t>
            </a:r>
            <a:r>
              <a:rPr lang="en-US" sz="2400" b="1" i="0" u="none" strike="noStrike">
                <a:solidFill>
                  <a:srgbClr val="FF0000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  <a:sym typeface="Noto Sans SC"/>
              </a:rPr>
              <a:t>DNA</a:t>
            </a:r>
            <a:r>
              <a:rPr lang="en-US" sz="2400" b="1" i="0" u="none" strike="noStrike">
                <a:solidFill>
                  <a:srgbClr val="FF0000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  <a:sym typeface="Noto Sans SC"/>
              </a:rPr>
              <a:t>条形码技术凭借其高特异性与稳定性，成为解决中药材鉴定难题、保障临床用药安全的关键技术手段。</a:t>
            </a:r>
            <a:endParaRPr lang="en-US" sz="2400" b="1" i="0" u="none" strike="noStrike">
              <a:solidFill>
                <a:srgbClr val="FF0000"/>
              </a:solidFill>
              <a:latin typeface="Times New Roman" panose="02020603050405020304" charset="0"/>
              <a:ea typeface="+mn-ea"/>
              <a:cs typeface="Times New Roman" panose="02020603050405020304" charset="0"/>
              <a:sym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0" y="1282700"/>
            <a:ext cx="12204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215900" y="660400"/>
            <a:ext cx="1187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文献研究</a:t>
            </a: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：对前人研究的再验证</a:t>
            </a:r>
            <a:endParaRPr lang="en-US" sz="32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Page 04</a:t>
            </a:r>
            <a:endParaRPr lang="en-US" sz="2400" b="0" i="0" u="none" strike="noStrike">
              <a:solidFill>
                <a:srgbClr val="FFFFFF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17500" y="1905000"/>
            <a:ext cx="11557000" cy="419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01 发现文献研究的关键局限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90500" indent="0" algn="l">
              <a:lnSpc>
                <a:spcPct val="108000"/>
              </a:lnSpc>
            </a:pP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某文献声称ITS2序列可有效鉴定桑白皮真伪，但其研究基础存在明显缺陷：数据库存在</a:t>
            </a:r>
            <a:r>
              <a:rPr lang="en-US" sz="2000" b="1" i="0" u="none" strike="noStrike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  <a:sym typeface="Noto Sans SC"/>
              </a:rPr>
              <a:t>数据不完整</a:t>
            </a: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问题，忽略了物种天然的遗传多样性差异；同时存在严重的</a:t>
            </a:r>
            <a:r>
              <a:rPr lang="en-US" sz="2000" b="1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数据冗余</a:t>
            </a: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，包含大量重复录入的序列。这些偏差直接影响了原结论的客观性与可靠性。</a:t>
            </a:r>
            <a:endParaRPr 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  <a:p>
            <a:pPr marL="0" indent="0" algn="l">
              <a:lnSpc>
                <a:spcPct val="117000"/>
              </a:lnSpc>
              <a:spcBef>
                <a:spcPts val="2500"/>
              </a:spcBef>
            </a:pPr>
            <a:r>
              <a:rPr lang="en-US" sz="24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02 本研究的核心目标与价值</a:t>
            </a:r>
            <a:endParaRPr lang="en-US" sz="2400" b="1" i="0" u="none" strike="noStrike">
              <a:solidFill>
                <a:srgbClr val="0020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  <a:p>
            <a:pPr marL="190500" indent="0" algn="l">
              <a:lnSpc>
                <a:spcPct val="108000"/>
              </a:lnSpc>
            </a:pP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通过对原始ITS2序列数据进行标准化的严格“清洗”与质控，剔除冗余信息、补充关键缺失数据，重新系统评估该序列在桑白皮鉴定中的真实效能。本研究旨在揭示数据质量对分子鉴定结论的决定性影响，为中药材DNA条形码鉴定的规范化研究提供方法学参考与实践依据。</a:t>
            </a:r>
            <a:endParaRPr 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0" y="1282700"/>
            <a:ext cx="12204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215900" y="660400"/>
            <a:ext cx="1187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数据来源与研究方法</a:t>
            </a:r>
            <a:endParaRPr lang="en-US" sz="3200" b="1" i="0" u="none" strike="noStrike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83643" b="1486"/>
          <a:stretch>
            <a:fillRect/>
          </a:stretch>
        </p:blipFill>
        <p:spPr>
          <a:xfrm>
            <a:off x="0" y="114300"/>
            <a:ext cx="12192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Page 02</a:t>
            </a:r>
            <a:endParaRPr lang="en-US" sz="1400" b="0" i="0" u="none" strike="noStrike">
              <a:solidFill>
                <a:schemeClr val="tx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79400" y="1447800"/>
            <a:ext cx="5181600" cy="5168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34D7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537200" y="1447800"/>
            <a:ext cx="6350000" cy="5168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34D7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09600" y="1574800"/>
            <a:ext cx="4724400" cy="4445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ADC0E8">
                  <a:alpha val="100000"/>
                </a:srgbClr>
              </a:gs>
              <a:gs pos="47000">
                <a:srgbClr val="ADC0E8">
                  <a:alpha val="100000"/>
                </a:srgbClr>
              </a:gs>
              <a:gs pos="100000">
                <a:srgbClr val="F6F8F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06400" y="1574800"/>
            <a:ext cx="444500" cy="444500"/>
          </a:xfrm>
          <a:prstGeom prst="ellipse">
            <a:avLst/>
          </a:prstGeom>
          <a:solidFill>
            <a:srgbClr val="334D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867400" y="1574800"/>
            <a:ext cx="5740400" cy="4445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ADC0E8">
                  <a:alpha val="100000"/>
                </a:srgbClr>
              </a:gs>
              <a:gs pos="47000">
                <a:srgbClr val="ADC0E8">
                  <a:alpha val="100000"/>
                </a:srgbClr>
              </a:gs>
              <a:gs pos="100000">
                <a:srgbClr val="F6F8F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38200" y="1536700"/>
            <a:ext cx="44323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01 数据来源</a:t>
            </a:r>
            <a:endParaRPr lang="en-US" sz="2800" b="1" i="0" u="none" strike="noStrike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134100" y="1536700"/>
            <a:ext cx="53086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02 分析方法</a:t>
            </a:r>
            <a:endParaRPr lang="en-US" sz="2800" b="1" i="0" u="none" strike="noStrike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42900" y="1536700"/>
            <a:ext cx="508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chemeClr val="bg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(1)</a:t>
            </a:r>
            <a:endParaRPr lang="en-US" sz="2200" b="1" i="0" u="none" strike="noStrike">
              <a:solidFill>
                <a:schemeClr val="bg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279400" y="2065655"/>
            <a:ext cx="51816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数据来源于国际权威的</a:t>
            </a:r>
            <a:r>
              <a:rPr lang="en-US" sz="2400" b="1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NCBI数据库</a:t>
            </a:r>
            <a:r>
              <a:rPr lang="en-US" sz="24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，重点筛选并下载了中国境内自然分布的桑属植物相关序列：</a:t>
            </a:r>
            <a:endPara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90500" indent="-190500" algn="l">
              <a:lnSpc>
                <a:spcPct val="117000"/>
              </a:lnSpc>
              <a:buClr>
                <a:srgbClr val="505050"/>
              </a:buClr>
              <a:buChar char="❖"/>
            </a:pP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包含11个核心桑属物种的标准序列；</a:t>
            </a:r>
            <a:endParaRPr 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  <a:p>
            <a:pPr marL="190500" indent="-190500" algn="l">
              <a:lnSpc>
                <a:spcPct val="117000"/>
              </a:lnSpc>
              <a:buClr>
                <a:srgbClr val="505050"/>
              </a:buClr>
              <a:buChar char="❖"/>
            </a:pP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补充3种市场常见的桑属伪品对照序列；</a:t>
            </a:r>
            <a:endParaRPr 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  <a:p>
            <a:pPr marL="190500" indent="-190500" algn="l">
              <a:lnSpc>
                <a:spcPct val="117000"/>
              </a:lnSpc>
              <a:buClr>
                <a:srgbClr val="505050"/>
              </a:buClr>
              <a:buChar char="❖"/>
            </a:pP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靶向获取ITS2和psbA-trnH两个高变区的DNA条形码序列，为物种鉴定提供基础数据支撑。</a:t>
            </a:r>
            <a:endParaRPr 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279400" y="5306695"/>
            <a:ext cx="5182235" cy="6102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Noto Sans SC"/>
                <a:sym typeface="Noto Sans SC"/>
              </a:rPr>
              <a:t>数据特征：</a:t>
            </a: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Noto Sans SC"/>
                <a:sym typeface="Noto Sans SC"/>
              </a:rPr>
              <a:t>包含正品与伪品的对比数据，确保了后续鉴定模型的准确性与适用性。</a:t>
            </a:r>
            <a:endParaRPr 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537200" y="1856105"/>
            <a:ext cx="6350000" cy="47605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▍序列比对分析</a:t>
            </a:r>
            <a:endPara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利用</a:t>
            </a:r>
            <a:r>
              <a:rPr lang="en-US" sz="2000" b="1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DNAMAN</a:t>
            </a: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软件对所有下载序列进行多序列比对，计算物种间的序列相似度，精准定位能够区分正品与伪品的特异性鉴别位点，直观呈现序列差异。</a:t>
            </a:r>
            <a:endParaRPr 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  <a:p>
            <a:pPr marL="0" indent="0" algn="l">
              <a:lnSpc>
                <a:spcPct val="125000"/>
              </a:lnSpc>
              <a:spcBef>
                <a:spcPts val="1500"/>
              </a:spcBef>
            </a:pPr>
            <a:r>
              <a:rPr lang="en-US" sz="2400" b="1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▍系统发育分析</a:t>
            </a:r>
            <a:endParaRPr lang="en-US" sz="2400" b="1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借助</a:t>
            </a:r>
            <a:r>
              <a:rPr lang="en-US" sz="2000" b="1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MEGA 7.0</a:t>
            </a: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软件，基于</a:t>
            </a:r>
            <a:r>
              <a:rPr lang="en-US" sz="2000" b="1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邻接法（NJ）</a:t>
            </a: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构建系统发育树。通过分析物种在进化分支上的聚类情况，明确不同物种间的亲缘关系远近，从分子进化角度验证DNA条形码对桑属物种的鉴定效果。</a:t>
            </a:r>
            <a:endParaRPr 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0" y="1282700"/>
            <a:ext cx="12204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215900" y="660400"/>
            <a:ext cx="1187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数据清洗流程</a:t>
            </a:r>
            <a:endParaRPr lang="en-US" sz="32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83643" b="1486"/>
          <a:stretch>
            <a:fillRect/>
          </a:stretch>
        </p:blipFill>
        <p:spPr>
          <a:xfrm>
            <a:off x="0" y="114300"/>
            <a:ext cx="12192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27000"/>
            <a:ext cx="17145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Page 05</a:t>
            </a:r>
            <a:endParaRPr lang="en-US" sz="1400" b="0" i="0" u="none" strike="noStrike">
              <a:solidFill>
                <a:srgbClr val="FFFFFF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79400" y="1447800"/>
            <a:ext cx="5181600" cy="5168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34D7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537200" y="1447800"/>
            <a:ext cx="6350000" cy="5168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34D7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09600" y="1574800"/>
            <a:ext cx="4724400" cy="4445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ADC0E8">
                  <a:alpha val="100000"/>
                </a:srgbClr>
              </a:gs>
              <a:gs pos="47000">
                <a:srgbClr val="ADC0E8">
                  <a:alpha val="100000"/>
                </a:srgbClr>
              </a:gs>
              <a:gs pos="100000">
                <a:srgbClr val="F6F8F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06400" y="1574800"/>
            <a:ext cx="444500" cy="444500"/>
          </a:xfrm>
          <a:prstGeom prst="ellipse">
            <a:avLst/>
          </a:prstGeom>
          <a:solidFill>
            <a:srgbClr val="334D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867400" y="1574800"/>
            <a:ext cx="5740400" cy="4445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ADC0E8">
                  <a:alpha val="100000"/>
                </a:srgbClr>
              </a:gs>
              <a:gs pos="47000">
                <a:srgbClr val="ADC0E8">
                  <a:alpha val="100000"/>
                </a:srgbClr>
              </a:gs>
              <a:gs pos="100000">
                <a:srgbClr val="F6F8F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" y="1536700"/>
            <a:ext cx="44323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流程核心目标</a:t>
            </a:r>
            <a:endParaRPr lang="en-US" sz="28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134100" y="1536700"/>
            <a:ext cx="53086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关键执行步骤</a:t>
            </a:r>
            <a:endParaRPr lang="en-US" sz="28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42900" y="1536700"/>
            <a:ext cx="508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01</a:t>
            </a:r>
            <a:endParaRPr lang="en-US" sz="2200" b="1" i="0" u="none" strike="noStrik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278765" y="2106295"/>
            <a:ext cx="5182235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Noto Sans SC"/>
                <a:sym typeface="Noto Sans SC"/>
              </a:rPr>
              <a:t>数据清洗是分子遗传分析的首要且关键环节，旨在消除原始数据中的噪声、冗余与偏差。通过对序列数据进行系统性的审查、校正与补全，确保数据的唯一性、代表性与完整性，从而为后续的单倍型分析、遗传多样性评估及系统发育构建提供坚实、可靠的数据基础。</a:t>
            </a:r>
            <a:endParaRPr 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278765" y="4564380"/>
            <a:ext cx="518287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1" i="0" u="none" strike="noStrike">
                <a:solidFill>
                  <a:srgbClr val="334D7F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“数据质量决定分析上限，严谨的清洗流程是确保研究结论科学性与可信度的根本保障。”</a:t>
            </a:r>
            <a:endParaRPr lang="en-US" sz="2400" b="1" i="0" u="none" strike="noStrike">
              <a:solidFill>
                <a:srgbClr val="334D7F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536565" y="2019300"/>
            <a:ext cx="6351270" cy="46031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76200" rIns="88900" bIns="76200" rtlCol="0" anchor="t" anchorCtr="0"/>
          <a:lstStyle>
            <a:lvl1pPr marL="419100" indent="-228600"/>
            <a:lvl2pPr marL="876300" indent="-228600"/>
            <a:lvl3pPr marL="1333500" indent="-228600"/>
            <a:lvl4pPr marL="1790700" indent="-228600"/>
            <a:lvl5pPr marL="2247900" indent="-228600"/>
            <a:lvl6pPr marL="2705100" indent="-228600"/>
            <a:lvl7pPr marL="3162300" indent="-228600"/>
            <a:lvl8pPr marL="3619500" indent="-228600"/>
            <a:lvl9pPr marL="4076700" indent="-228600"/>
          </a:lstStyle>
          <a:p>
            <a:pPr marL="419100" indent="-228600" algn="l">
              <a:lnSpc>
                <a:spcPct val="108000"/>
              </a:lnSpc>
              <a:buClr>
                <a:srgbClr val="002060"/>
              </a:buClr>
              <a:buFont typeface="Arial" panose="020B0604020202020204"/>
              <a:buChar char="•"/>
              <a:defRPr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01 数据审查：</a:t>
            </a: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系统核验原始文献中的序列列表，人工识别并标记重复或可疑的单倍型序列，形成初步筛查清单，确保源头数据可追溯。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19100" indent="-228600" algn="l">
              <a:lnSpc>
                <a:spcPct val="108000"/>
              </a:lnSpc>
              <a:buClr>
                <a:srgbClr val="002060"/>
              </a:buClr>
              <a:buFont typeface="Arial" panose="020B0604020202020204"/>
              <a:buChar char="•"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02 去除冗余：</a:t>
            </a: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利用DNAMAN软件进行多序列比对分析，严格</a:t>
            </a:r>
            <a:r>
              <a:rPr lang="en-US" sz="2000" b="1" i="0" u="none" strike="noStrike">
                <a:solidFill>
                  <a:srgbClr val="FF0000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剔除重复的单倍型数据</a:t>
            </a: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，确保最终数据集内序列的绝对唯一性，避免统计偏差。</a:t>
            </a:r>
            <a:endParaRPr lang="en-US" sz="2000" b="0" i="0" u="none" strike="noStrike">
              <a:solidFill>
                <a:srgbClr val="505050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  <a:p>
            <a:pPr marL="419100" indent="-228600" algn="l">
              <a:lnSpc>
                <a:spcPct val="108000"/>
              </a:lnSpc>
              <a:buClr>
                <a:srgbClr val="002060"/>
              </a:buClr>
              <a:buFont typeface="Arial" panose="020B0604020202020204"/>
              <a:buChar char="•"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03 补充缺失：</a:t>
            </a: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重新检索NCBI公共核酸数据库，挖掘原始研究中遗漏的、具有重要种群代表性的关键单倍型，有效补充数据的生态与遗传维度。</a:t>
            </a:r>
            <a:endParaRPr lang="en-US" sz="2000" b="0" i="0" u="none" strike="noStrike">
              <a:solidFill>
                <a:srgbClr val="505050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  <a:p>
            <a:pPr marL="419100" indent="-228600" algn="l">
              <a:lnSpc>
                <a:spcPct val="108000"/>
              </a:lnSpc>
              <a:buClr>
                <a:srgbClr val="002060"/>
              </a:buClr>
              <a:buFont typeface="Arial" panose="020B0604020202020204"/>
              <a:buChar char="•"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04 构建新库：</a:t>
            </a: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整合去重与补充后的高质量序列，建立标准化、结构化的分析数据库，为后续的遗传结构解析与进化分析提供统一的数据支撑。</a:t>
            </a:r>
            <a:endParaRPr 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722" b="722"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Page 27</a:t>
            </a:r>
            <a:endParaRPr lang="en-US" sz="1400" b="0" i="0" u="none" strike="noStrike">
              <a:solidFill>
                <a:srgbClr val="FFFFFF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215900" y="660400"/>
            <a:ext cx="1187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数据清洗前后对比：系统发育树的显著差异</a:t>
            </a:r>
            <a:endParaRPr lang="en-US" sz="32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>
            <a:off x="0" y="1282700"/>
            <a:ext cx="12204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1397000" y="4318000"/>
            <a:ext cx="355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2060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图1：原始文献数据库（桑序列独立成支）</a:t>
            </a:r>
            <a:endParaRPr lang="en-US" sz="1400" b="1" i="0" u="none" strike="noStrike">
              <a:solidFill>
                <a:srgbClr val="002060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  <p:sp>
        <p:nvSpPr>
          <p:cNvPr id="11" name="AutoShape 11"/>
          <p:cNvSpPr/>
          <p:nvPr>
            <p:custDataLst>
              <p:tags r:id="rId3"/>
            </p:custDataLst>
          </p:nvPr>
        </p:nvSpPr>
        <p:spPr>
          <a:xfrm>
            <a:off x="6287770" y="430657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2060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图2：修正后数据库（桑与近缘种混杂）</a:t>
            </a:r>
            <a:endParaRPr lang="en-US" sz="1400" b="1" i="0" u="none" strike="noStrike">
              <a:solidFill>
                <a:srgbClr val="002060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00685" y="4687570"/>
            <a:ext cx="1130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▌ 数据偏差导致的结论反转：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2000" b="0" i="0" u="none" strike="noStrike">
                <a:solidFill>
                  <a:srgbClr val="333333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清洗前，基于文献数据库的进化树显示桑</a:t>
            </a:r>
            <a:r>
              <a:rPr lang="en-US" sz="2000" b="0" i="1" u="none" strike="noStrike">
                <a:solidFill>
                  <a:srgbClr val="333333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Morus alba</a:t>
            </a:r>
            <a:r>
              <a:rPr lang="en-US" sz="2000" b="0" i="0" u="none" strike="noStrike">
                <a:solidFill>
                  <a:srgbClr val="333333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序列单独聚为一支，看似支持ITS2可有效鉴定；清洗后，纳入更多样本发现桑与鸡桑、黑桑等近缘种完全混杂，无法区分。这揭示了原始研究因“有偏数据集”高估了分子标记的鉴别能力，证明了全样本数据清洗对鉴定结论可靠性的关键作用。</a:t>
            </a:r>
            <a:endParaRPr lang="en-US" sz="2000" b="0" i="0" u="none" strike="noStrike">
              <a:solidFill>
                <a:srgbClr val="333333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  <p:pic>
        <p:nvPicPr>
          <p:cNvPr id="13" name="图片 6" descr="KU1-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09090" y="1333500"/>
            <a:ext cx="3131185" cy="3101975"/>
          </a:xfrm>
          <a:prstGeom prst="rect">
            <a:avLst/>
          </a:prstGeom>
        </p:spPr>
      </p:pic>
      <p:pic>
        <p:nvPicPr>
          <p:cNvPr id="14" name="图片 7" descr="KU3-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350000" y="1333500"/>
            <a:ext cx="3304540" cy="30245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0" y="1282700"/>
            <a:ext cx="12204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215900" y="660400"/>
            <a:ext cx="1187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植物学分析：ITS2序列的真实效能</a:t>
            </a:r>
            <a:endParaRPr lang="en-US" sz="32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83643" b="1486"/>
          <a:stretch>
            <a:fillRect/>
          </a:stretch>
        </p:blipFill>
        <p:spPr>
          <a:xfrm>
            <a:off x="0" y="114300"/>
            <a:ext cx="12192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27000"/>
            <a:ext cx="17145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Page 8</a:t>
            </a:r>
            <a:endParaRPr lang="en-US" sz="1400" b="0" i="0" u="none" strike="noStrike">
              <a:solidFill>
                <a:srgbClr val="FFFFFF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79400" y="1447800"/>
            <a:ext cx="5181600" cy="5168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34D7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537200" y="1447800"/>
            <a:ext cx="6350000" cy="5168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34D7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09600" y="1574800"/>
            <a:ext cx="4724400" cy="4445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ADC0E8">
                  <a:alpha val="100000"/>
                </a:srgbClr>
              </a:gs>
              <a:gs pos="47000">
                <a:srgbClr val="ADC0E8">
                  <a:alpha val="100000"/>
                </a:srgbClr>
              </a:gs>
              <a:gs pos="100000">
                <a:srgbClr val="F6F8F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06400" y="1574800"/>
            <a:ext cx="444500" cy="444500"/>
          </a:xfrm>
          <a:prstGeom prst="ellipse">
            <a:avLst/>
          </a:prstGeom>
          <a:solidFill>
            <a:srgbClr val="334D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867400" y="1574800"/>
            <a:ext cx="5740400" cy="4445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ADC0E8">
                  <a:alpha val="100000"/>
                </a:srgbClr>
              </a:gs>
              <a:gs pos="47000">
                <a:srgbClr val="ADC0E8">
                  <a:alpha val="100000"/>
                </a:srgbClr>
              </a:gs>
              <a:gs pos="100000">
                <a:srgbClr val="F6F8F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" y="1536700"/>
            <a:ext cx="44323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桑属ITS2系统发育树</a:t>
            </a:r>
            <a:endParaRPr lang="en-US" sz="28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134100" y="1536700"/>
            <a:ext cx="53086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序列鉴别效能解析</a:t>
            </a:r>
            <a:endParaRPr lang="en-US" sz="28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09600" y="5131435"/>
            <a:ext cx="4699000" cy="1040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i="0" u="none" strike="noStrike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图示为基于ITS2序列构建的进化树，直观反映了桑属物种间的亲缘关系与聚类情况，部分近缘物种呈现高度混杂。</a:t>
            </a:r>
            <a:endParaRPr lang="en-US" sz="2000" i="0" u="none" strike="noStrike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867400" y="2286000"/>
            <a:ext cx="57404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520700" indent="-228600"/>
            <a:lvl2pPr marL="977900" indent="-228600"/>
            <a:lvl3pPr marL="1435100" indent="-228600"/>
            <a:lvl4pPr marL="1892300" indent="-228600"/>
            <a:lvl5pPr marL="2349500" indent="-228600"/>
            <a:lvl6pPr marL="2806700" indent="-228600"/>
            <a:lvl7pPr marL="3263900" indent="-228600"/>
            <a:lvl8pPr marL="3721100" indent="-228600"/>
            <a:lvl9pPr marL="4178300" indent="-228600"/>
          </a:lstStyle>
          <a:p>
            <a:pPr marL="292100" indent="-279400" algn="l">
              <a:lnSpc>
                <a:spcPct val="117000"/>
              </a:lnSpc>
              <a:buClr>
                <a:srgbClr val="002060"/>
              </a:buClr>
              <a:buFont typeface="Arial" panose="020B0604020202020204"/>
              <a:buChar char="•"/>
              <a:defRPr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有效鉴别：远缘物种可区分</a:t>
            </a:r>
            <a:br>
              <a:rPr lang="en-US" sz="2000" b="0" i="0" u="none" strike="noStrike">
                <a:solidFill>
                  <a:srgbClr val="1F2329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</a:br>
            <a:r>
              <a:rPr lang="en-US" sz="2000" b="0" i="0" u="none" strike="noStrike">
                <a:solidFill>
                  <a:srgbClr val="323232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桑与长穗桑、川桑、吉隆桑存在特异性鉴别位点，可实现有效区分，其中桑与吉隆桑的序列差异最为显著，在进化树中聚类关系较远。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92100" indent="-279400" algn="l">
              <a:lnSpc>
                <a:spcPct val="117000"/>
              </a:lnSpc>
              <a:buClr>
                <a:srgbClr val="A03232"/>
              </a:buClr>
              <a:buFont typeface="Arial" panose="020B0604020202020204"/>
              <a:buChar char="•"/>
            </a:pPr>
            <a:r>
              <a:rPr lang="en-US" sz="2000" b="1" i="0" u="none" strike="noStrike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鉴别局限：近缘物种难区分</a:t>
            </a:r>
            <a:br>
              <a:rPr lang="en-US" sz="2000" b="0" i="0" u="none" strike="noStrike">
                <a:solidFill>
                  <a:srgbClr val="FF0000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</a:br>
            <a:r>
              <a:rPr lang="en-US" sz="2000" b="0" i="0" u="none" strike="noStrike">
                <a:solidFill>
                  <a:srgbClr val="323232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桑与黑桑、华桑、鸡桑、蒙桑、奶桑之间缺乏稳定的鉴别位点，ITS2序列高度相似，在系统发育树中无法形成独立分支，因此难以通过该片段进行准确的物种区分。</a:t>
            </a:r>
            <a:endParaRPr lang="en-US" sz="2000" b="0" i="0" u="none" strike="noStrike">
              <a:solidFill>
                <a:srgbClr val="323232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93700" y="1536065"/>
            <a:ext cx="444500" cy="4013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(1)</a:t>
            </a:r>
            <a:endParaRPr lang="en-US" sz="2200" b="1" i="0" u="none" strike="noStrik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rcRect t="26" b="26"/>
          <a:stretch>
            <a:fillRect/>
          </a:stretch>
        </p:blipFill>
        <p:spPr>
          <a:xfrm>
            <a:off x="1036955" y="2044700"/>
            <a:ext cx="3465195" cy="316357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0" y="1282700"/>
            <a:ext cx="12204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215900" y="660400"/>
            <a:ext cx="1187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植物学分析：ITS2序列比对示例</a:t>
            </a:r>
            <a:endParaRPr lang="en-US" sz="32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Page 12</a:t>
            </a:r>
            <a:endParaRPr lang="en-US" sz="1400" b="0" i="0" u="none" strike="noStrike">
              <a:solidFill>
                <a:srgbClr val="FFFFFF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8100" y="2810510"/>
            <a:ext cx="11857355" cy="9728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01 可区分案例：桑 </a:t>
            </a:r>
            <a:r>
              <a:rPr lang="en-US" sz="24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vs</a:t>
            </a: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 </a:t>
            </a:r>
            <a:r>
              <a:rPr lang="zh-CN" alt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长穗桑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17000"/>
              </a:lnSpc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桑和长穗桑相似度98.30%，无连续差异位点，存在1个鉴别位点可以区分。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图片 10" descr="C:/Users/ZMZ/Desktop/屏幕截图 2026-06-23 153115.png屏幕截图 2026-06-23 153115"/>
          <p:cNvPicPr>
            <a:picLocks noChangeAspect="1"/>
          </p:cNvPicPr>
          <p:nvPr/>
        </p:nvPicPr>
        <p:blipFill>
          <a:blip r:embed="rId2"/>
          <a:srcRect l="1330" r="1330"/>
          <a:stretch>
            <a:fillRect/>
          </a:stretch>
        </p:blipFill>
        <p:spPr>
          <a:xfrm>
            <a:off x="635" y="1598295"/>
            <a:ext cx="12149455" cy="1212215"/>
          </a:xfrm>
          <a:prstGeom prst="rect">
            <a:avLst/>
          </a:prstGeom>
        </p:spPr>
      </p:pic>
      <p:pic>
        <p:nvPicPr>
          <p:cNvPr id="14" name="图片 11" descr="C:/Users/ZMZ/Desktop/屏幕截图 2026-06-23 153237.png屏幕截图 2026-06-23 153237"/>
          <p:cNvPicPr>
            <a:picLocks noChangeAspect="1"/>
          </p:cNvPicPr>
          <p:nvPr/>
        </p:nvPicPr>
        <p:blipFill>
          <a:blip r:embed="rId3"/>
          <a:srcRect l="2859" r="2859"/>
          <a:stretch>
            <a:fillRect/>
          </a:stretch>
        </p:blipFill>
        <p:spPr>
          <a:xfrm>
            <a:off x="0" y="3667760"/>
            <a:ext cx="12148820" cy="1102995"/>
          </a:xfrm>
          <a:prstGeom prst="rect">
            <a:avLst/>
          </a:prstGeom>
        </p:spPr>
      </p:pic>
      <p:sp>
        <p:nvSpPr>
          <p:cNvPr id="15" name="AutoShape 10"/>
          <p:cNvSpPr/>
          <p:nvPr/>
        </p:nvSpPr>
        <p:spPr>
          <a:xfrm>
            <a:off x="38100" y="4765040"/>
            <a:ext cx="11857355" cy="9728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01 可区分案例：桑 </a:t>
            </a:r>
            <a:r>
              <a:rPr lang="en-US" sz="24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vs</a:t>
            </a: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 </a:t>
            </a:r>
            <a:r>
              <a:rPr lang="zh-CN" alt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川桑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17000"/>
              </a:lnSpc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桑和川桑相似度98.30%，无连续差异位点，存在1个鉴别位点可以区分。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0" y="1282700"/>
            <a:ext cx="12204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215900" y="660400"/>
            <a:ext cx="1187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植物学分析：ITS2序列比对示例</a:t>
            </a:r>
            <a:endParaRPr lang="en-US" sz="32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Page 12</a:t>
            </a:r>
            <a:endParaRPr lang="en-US" sz="1400" b="0" i="0" u="none" strike="noStrike">
              <a:solidFill>
                <a:srgbClr val="FFFFFF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15900" y="3353435"/>
            <a:ext cx="11857355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01 可区分案例：桑 </a:t>
            </a:r>
            <a:r>
              <a:rPr lang="en-US" sz="24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vs</a:t>
            </a: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 吉隆桑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相似度仅为97.00%，序列比对结果显示二者存在</a:t>
            </a:r>
            <a:r>
              <a:rPr lang="en-US" sz="2000" b="1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12个稳定的鉴别位点</a:t>
            </a: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，碱基差异特征显著。这一分子证据能够有效区分桑与吉隆桑的物种归属，为药材基原鉴定提供了清晰的判定依据。</a:t>
            </a:r>
            <a:endParaRPr 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  <p:pic>
        <p:nvPicPr>
          <p:cNvPr id="12" name="图片 12" descr="桑与吉隆桑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2218055"/>
            <a:ext cx="12035155" cy="10344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0" y="1282700"/>
            <a:ext cx="12204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215900" y="660400"/>
            <a:ext cx="1187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植物学分析：</a:t>
            </a: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ITS2</a:t>
            </a:r>
            <a:r>
              <a:rPr lang="en-US" sz="3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序列比对示例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Page 12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" y="2849880"/>
            <a:ext cx="12203430" cy="1239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02 不可区分案例：桑 vs 鸡桑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17000"/>
              </a:lnSpc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桑和鸡桑相似度98.15%，无连续差异位点，不存在鉴别位点。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" y="1721485"/>
            <a:ext cx="12115165" cy="1128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图片 3" descr="C:/Users/ZMZ/Desktop/屏幕截图 2026-06-23 153400.png屏幕截图 2026-06-23 153400"/>
          <p:cNvPicPr>
            <a:picLocks noChangeAspect="1"/>
          </p:cNvPicPr>
          <p:nvPr/>
        </p:nvPicPr>
        <p:blipFill>
          <a:blip r:embed="rId3"/>
          <a:srcRect l="1661" r="1661"/>
          <a:stretch>
            <a:fillRect/>
          </a:stretch>
        </p:blipFill>
        <p:spPr>
          <a:xfrm>
            <a:off x="635" y="3691255"/>
            <a:ext cx="12129135" cy="12788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AutoShape 11"/>
          <p:cNvSpPr/>
          <p:nvPr/>
        </p:nvSpPr>
        <p:spPr>
          <a:xfrm>
            <a:off x="-10795" y="5032375"/>
            <a:ext cx="12203430" cy="1239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02 不可区分案例：桑 vs </a:t>
            </a:r>
            <a:r>
              <a:rPr lang="zh-CN" alt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黑桑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17000"/>
              </a:lnSpc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桑和黑桑相似度97.80%，无连续差异位点，不存在鉴别位点。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0" y="1282700"/>
            <a:ext cx="12204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215900" y="660400"/>
            <a:ext cx="1187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植物学分析：</a:t>
            </a: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ITS2</a:t>
            </a:r>
            <a:r>
              <a:rPr lang="en-US" sz="3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序列比对示例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Page 12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70" y="2595880"/>
            <a:ext cx="12203430" cy="1239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02 不可区分案例：桑 vs </a:t>
            </a:r>
            <a:r>
              <a:rPr lang="zh-CN" alt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华桑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17000"/>
              </a:lnSpc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桑和华桑相似度98.46%，无连续差异位点，不存在鉴别位点。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AutoShape 11"/>
          <p:cNvSpPr/>
          <p:nvPr/>
        </p:nvSpPr>
        <p:spPr>
          <a:xfrm>
            <a:off x="1270" y="4555490"/>
            <a:ext cx="12203430" cy="1239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02 不可区分案例：桑 vs </a:t>
            </a:r>
            <a:r>
              <a:rPr lang="zh-CN" alt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蒙桑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17000"/>
              </a:lnSpc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桑和蒙桑相似度98.15%，无连续差异位点，不存在鉴别位点。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图片 4" descr="C:/Users/ZMZ/Desktop/屏幕截图 2026-06-23 153517.png屏幕截图 2026-06-23 153517"/>
          <p:cNvPicPr>
            <a:picLocks noChangeAspect="1"/>
          </p:cNvPicPr>
          <p:nvPr/>
        </p:nvPicPr>
        <p:blipFill>
          <a:blip r:embed="rId2"/>
          <a:srcRect l="458" r="458"/>
          <a:stretch>
            <a:fillRect/>
          </a:stretch>
        </p:blipFill>
        <p:spPr>
          <a:xfrm>
            <a:off x="-10795" y="1340485"/>
            <a:ext cx="12024995" cy="1110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95" y="3397250"/>
            <a:ext cx="12158980" cy="1113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0" y="1282700"/>
            <a:ext cx="12204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215900" y="660400"/>
            <a:ext cx="1187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植物学分析：</a:t>
            </a: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ITS2</a:t>
            </a:r>
            <a:r>
              <a:rPr lang="en-US" sz="3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序列比对示例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Page 12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70" y="3374390"/>
            <a:ext cx="12203430" cy="1239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02 不可区分案例：桑 vs </a:t>
            </a:r>
            <a:r>
              <a:rPr lang="zh-CN" alt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奶桑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17000"/>
              </a:lnSpc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桑和奶桑相似度98.10%，无连续差异位点，不存在鉴别位点。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" y="1778000"/>
            <a:ext cx="12218670" cy="1207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0" y="1282700"/>
            <a:ext cx="12204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215900" y="660400"/>
            <a:ext cx="1187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植物学分析：psbA-trnH序列的局限性</a:t>
            </a:r>
            <a:endParaRPr lang="en-US" sz="32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83643" b="1486"/>
          <a:stretch>
            <a:fillRect/>
          </a:stretch>
        </p:blipFill>
        <p:spPr>
          <a:xfrm>
            <a:off x="0" y="114300"/>
            <a:ext cx="12192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27000"/>
            <a:ext cx="17145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Page 10</a:t>
            </a:r>
            <a:endParaRPr lang="en-US" sz="1400" b="0" i="0" u="none" strike="noStrike">
              <a:solidFill>
                <a:srgbClr val="FFFFFF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79400" y="1447800"/>
            <a:ext cx="5181600" cy="5168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34D7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537200" y="1447800"/>
            <a:ext cx="6350000" cy="5168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34D7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09600" y="1574800"/>
            <a:ext cx="4724400" cy="4445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ADC0E8">
                  <a:alpha val="100000"/>
                </a:srgbClr>
              </a:gs>
              <a:gs pos="47000">
                <a:srgbClr val="ADC0E8">
                  <a:alpha val="100000"/>
                </a:srgbClr>
              </a:gs>
              <a:gs pos="100000">
                <a:srgbClr val="F6F8F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06400" y="1574800"/>
            <a:ext cx="444500" cy="444500"/>
          </a:xfrm>
          <a:prstGeom prst="ellipse">
            <a:avLst/>
          </a:prstGeom>
          <a:solidFill>
            <a:srgbClr val="334D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867400" y="1574800"/>
            <a:ext cx="5740400" cy="4445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ADC0E8">
                  <a:alpha val="100000"/>
                </a:srgbClr>
              </a:gs>
              <a:gs pos="47000">
                <a:srgbClr val="ADC0E8">
                  <a:alpha val="100000"/>
                </a:srgbClr>
              </a:gs>
              <a:gs pos="100000">
                <a:srgbClr val="F6F8F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" y="1536700"/>
            <a:ext cx="44323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系统发育树聚类图谱</a:t>
            </a:r>
            <a:endParaRPr lang="en-US" sz="28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134100" y="1536700"/>
            <a:ext cx="53086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序列鉴别效能评估结论</a:t>
            </a:r>
            <a:endParaRPr lang="en-US" sz="28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42900" y="1536700"/>
            <a:ext cx="508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(1)</a:t>
            </a:r>
            <a:endParaRPr lang="en-US" sz="2200" b="1" i="0" u="none" strike="noStrik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rcRect t="19" b="19"/>
          <a:stretch>
            <a:fillRect/>
          </a:stretch>
        </p:blipFill>
        <p:spPr>
          <a:xfrm>
            <a:off x="779780" y="2044700"/>
            <a:ext cx="3955415" cy="316420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280035" y="5106670"/>
            <a:ext cx="518096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图示为桑属物种基于psbA-trnH序列构建的系统发育树。结果显示所有被测桑属物种（如桑、鸡桑、华桑等）完全聚集在单一进化分支中，无法形成独立的物种分支，序列变异程度不足以区分近缘种。</a:t>
            </a:r>
            <a:endParaRPr lang="en-US" sz="18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536565" y="2022475"/>
            <a:ext cx="635127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520700" indent="-228600"/>
            <a:lvl2pPr marL="977900" indent="-228600"/>
            <a:lvl3pPr marL="1435100" indent="-228600"/>
            <a:lvl4pPr marL="1892300" indent="-228600"/>
            <a:lvl5pPr marL="2349500" indent="-228600"/>
            <a:lvl6pPr marL="2806700" indent="-228600"/>
            <a:lvl7pPr marL="3263900" indent="-228600"/>
            <a:lvl8pPr marL="3721100" indent="-228600"/>
            <a:lvl9pPr marL="4178300" indent="-228600"/>
          </a:lstStyle>
          <a:p>
            <a:pPr marL="292100" indent="-279400" algn="l">
              <a:lnSpc>
                <a:spcPct val="117000"/>
              </a:lnSpc>
              <a:buClr>
                <a:srgbClr val="002060"/>
              </a:buClr>
              <a:buFont typeface="Arial" panose="020B0604020202020204"/>
              <a:buChar char="•"/>
              <a:defRPr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缺乏有效鉴别位点：</a:t>
            </a:r>
            <a:r>
              <a:rPr lang="en-US" sz="2000" b="0" i="0" u="none" strike="noStrike">
                <a:solidFill>
                  <a:srgbClr val="333333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在桑与鸡桑、华桑、黑桑、奶桑等近缘物种间，未检测到具有物种特异性的变异位点，序列高度保守。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92100" indent="-279400" algn="l">
              <a:lnSpc>
                <a:spcPct val="117000"/>
              </a:lnSpc>
              <a:buClr>
                <a:srgbClr val="002060"/>
              </a:buClr>
              <a:buFont typeface="Arial" panose="020B0604020202020204"/>
              <a:buChar char="•"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聚类结果无区分度：</a:t>
            </a:r>
            <a:r>
              <a:rPr lang="en-US" sz="2000" b="0" i="0" u="none" strike="noStrike">
                <a:solidFill>
                  <a:srgbClr val="333333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基于该片段的系统发育分析显示，所有桑属被测物种均聚为一支，分支内部无明显的物种分化节点，无法通过该片段进行物种区分。</a:t>
            </a:r>
            <a:endParaRPr lang="en-US" sz="2000" b="0" i="0" u="none" strike="noStrike">
              <a:solidFill>
                <a:srgbClr val="333333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  <a:p>
            <a:pPr marL="292100" indent="-279400" algn="l">
              <a:lnSpc>
                <a:spcPct val="117000"/>
              </a:lnSpc>
              <a:buClr>
                <a:srgbClr val="002060"/>
              </a:buClr>
              <a:buFont typeface="Arial" panose="020B0604020202020204"/>
              <a:buChar char="•"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不适合作为鉴定条码：</a:t>
            </a:r>
            <a:r>
              <a:rPr lang="en-US" sz="2000" b="0" i="0" u="none" strike="noStrike">
                <a:solidFill>
                  <a:srgbClr val="333333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psbA-trnH序列在桑属内的物种鉴别效能极低，不具备作为DNA条形码所需的种间分辨率，因此不适用于该属植物的物种分子鉴定。</a:t>
            </a:r>
            <a:endParaRPr lang="en-US" sz="2000" b="0" i="0" u="none" strike="noStrike">
              <a:solidFill>
                <a:srgbClr val="333333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0" y="1282700"/>
            <a:ext cx="12204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215900" y="660400"/>
            <a:ext cx="1187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中药鉴定学分析：ITS2序列的实际应用价值</a:t>
            </a:r>
            <a:endParaRPr lang="en-US" sz="32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83643" b="1486"/>
          <a:stretch>
            <a:fillRect/>
          </a:stretch>
        </p:blipFill>
        <p:spPr>
          <a:xfrm>
            <a:off x="0" y="114300"/>
            <a:ext cx="12192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27000"/>
            <a:ext cx="17145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Page 8</a:t>
            </a:r>
            <a:endParaRPr lang="en-US" sz="1400" b="0" i="0" u="none" strike="noStrike">
              <a:solidFill>
                <a:srgbClr val="FFFFFF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79400" y="1447800"/>
            <a:ext cx="5181600" cy="5168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34D7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537200" y="1447800"/>
            <a:ext cx="6350000" cy="5168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34D7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09600" y="1574800"/>
            <a:ext cx="4724400" cy="4445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ADC0E8">
                  <a:alpha val="100000"/>
                </a:srgbClr>
              </a:gs>
              <a:gs pos="47000">
                <a:srgbClr val="ADC0E8">
                  <a:alpha val="100000"/>
                </a:srgbClr>
              </a:gs>
              <a:gs pos="100000">
                <a:srgbClr val="F6F8F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06400" y="1574800"/>
            <a:ext cx="444500" cy="444500"/>
          </a:xfrm>
          <a:prstGeom prst="ellipse">
            <a:avLst/>
          </a:prstGeom>
          <a:solidFill>
            <a:srgbClr val="334D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867400" y="1574800"/>
            <a:ext cx="5740400" cy="4445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ADC0E8">
                  <a:alpha val="100000"/>
                </a:srgbClr>
              </a:gs>
              <a:gs pos="47000">
                <a:srgbClr val="ADC0E8">
                  <a:alpha val="100000"/>
                </a:srgbClr>
              </a:gs>
              <a:gs pos="100000">
                <a:srgbClr val="F6F8F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" y="1536700"/>
            <a:ext cx="44323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ITS2 序列系统进化树</a:t>
            </a:r>
            <a:endParaRPr lang="en-US" sz="28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134100" y="1536700"/>
            <a:ext cx="53086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鉴别效能：优势与局限</a:t>
            </a:r>
            <a:endParaRPr lang="en-US" sz="28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42900" y="1536700"/>
            <a:ext cx="508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01</a:t>
            </a:r>
            <a:endParaRPr lang="en-US" sz="2200" b="1" i="0" u="none" strike="noStrik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537200" y="2051685"/>
            <a:ext cx="6350000" cy="7537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图示为桑及常见伪品的ITS2序列聚类分析结果。不同颜色分支代表不同属（桑属、构树属、柘属），直观反映了物种间的遗传亲缘关系与差异程度。</a:t>
            </a:r>
            <a:endParaRPr 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537200" y="3140710"/>
            <a:ext cx="6350000" cy="25901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520700" indent="-228600"/>
            <a:lvl2pPr marL="977900" indent="-228600"/>
            <a:lvl3pPr marL="1435100" indent="-228600"/>
            <a:lvl4pPr marL="1892300" indent="-228600"/>
            <a:lvl5pPr marL="2349500" indent="-228600"/>
            <a:lvl6pPr marL="2806700" indent="-228600"/>
            <a:lvl7pPr marL="3263900" indent="-228600"/>
            <a:lvl8pPr marL="3721100" indent="-228600"/>
            <a:lvl9pPr marL="4178300" indent="-228600"/>
          </a:lstStyle>
          <a:p>
            <a:pPr marL="292100" indent="-279400" algn="l">
              <a:lnSpc>
                <a:spcPct val="117000"/>
              </a:lnSpc>
              <a:buClr>
                <a:srgbClr val="C0392B"/>
              </a:buClr>
              <a:buFont typeface="Arial" panose="020B0604020202020204"/>
              <a:buChar char="•"/>
              <a:defRPr/>
            </a:pPr>
            <a:r>
              <a:rPr lang="en-US" sz="2000" b="1" i="0" u="none" strike="noStrike">
                <a:solidFill>
                  <a:srgbClr val="C0392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桑属内伪品：无法区分（技术瓶颈）</a:t>
            </a:r>
            <a:br>
              <a:rPr lang="en-US" sz="2000" b="0" i="0" u="none" strike="noStrike">
                <a:solidFill>
                  <a:srgbClr val="1F2329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</a:br>
            <a:r>
              <a:rPr lang="en-US" sz="2000" b="0" i="0" u="none" strike="noStrike">
                <a:solidFill>
                  <a:srgbClr val="333333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桑与川桑、华桑、鸡桑、蒙桑等同属近缘种之间不存在特异性鉴别位点，ITS2序列高度保守，难以进行有效区分，这是当前分子鉴定面临的主要挑战。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92100" indent="-279400" algn="l">
              <a:lnSpc>
                <a:spcPct val="117000"/>
              </a:lnSpc>
              <a:buClr>
                <a:srgbClr val="27AE60"/>
              </a:buClr>
              <a:buFont typeface="Arial" panose="020B0604020202020204"/>
              <a:buChar char="•"/>
            </a:pPr>
            <a:r>
              <a:rPr lang="en-US" sz="2000" b="1" i="0" u="none" strike="noStrike">
                <a:solidFill>
                  <a:srgbClr val="27AE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非桑属伪品：轻松鉴别（应用价值）</a:t>
            </a:r>
            <a:br>
              <a:rPr lang="en-US" sz="2000" b="0" i="0" u="none" strike="noStrike">
                <a:solidFill>
                  <a:srgbClr val="1F2329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</a:br>
            <a:r>
              <a:rPr lang="en-US" sz="2000" b="0" i="0" u="none" strike="noStrike">
                <a:solidFill>
                  <a:srgbClr val="333333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桑与构树、柘树、构棘等其他属伪品在ITS2序列上存在大量稳定的碱基差异位点，可作为可靠的分子标记，实现快速、准确的真伪鉴别，为市场监管提供有力技术支撑。</a:t>
            </a:r>
            <a:endParaRPr lang="en-US" sz="2000" b="0" i="0" u="none" strike="noStrike">
              <a:solidFill>
                <a:srgbClr val="333333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  <p:pic>
        <p:nvPicPr>
          <p:cNvPr id="21" name="图片 10" descr="KU4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2025015"/>
            <a:ext cx="5053965" cy="38639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0" y="1282700"/>
            <a:ext cx="12204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215900" y="660400"/>
            <a:ext cx="1187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中药鉴定学分析：ITS2序列比对示例</a:t>
            </a:r>
            <a:endParaRPr lang="en-US" sz="32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Page 29</a:t>
            </a:r>
            <a:endParaRPr lang="en-US" sz="1400" b="0" i="0" u="none" strike="noStrike">
              <a:solidFill>
                <a:srgbClr val="FFFFFF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0" y="2635250"/>
            <a:ext cx="12192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01 可区分案例：桑 vs 构树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2000" b="0" i="0" u="none" strike="noStrike">
                <a:solidFill>
                  <a:srgbClr val="333333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序列相似度仅为81.27%，存在19个稳定的鉴别位点，碱基差异极其显著。</a:t>
            </a:r>
            <a:endParaRPr lang="en-US" sz="2000" b="0" i="0" u="none" strike="noStrike">
              <a:solidFill>
                <a:srgbClr val="333333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98500" y="5461000"/>
            <a:ext cx="1079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B4323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核心结论：</a:t>
            </a:r>
            <a:r>
              <a:rPr lang="en-US" sz="1500">
                <a:solidFill>
                  <a:srgbClr val="333333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这表明ITS2序列能够作为可靠的分子标记，有效区分正品桑白皮与常见伪品构树</a:t>
            </a:r>
            <a:r>
              <a:rPr lang="zh-CN" altLang="en-US" sz="1500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Noto Sans SC"/>
              </a:rPr>
              <a:t>、构棘、柘树</a:t>
            </a:r>
            <a:r>
              <a:rPr lang="en-US" sz="1500">
                <a:solidFill>
                  <a:srgbClr val="333333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，为中药材真伪鉴别提供有力的技术支撑。</a:t>
            </a:r>
            <a:endParaRPr lang="en-US" sz="1500" b="0" i="0" u="none" strike="noStrike">
              <a:solidFill>
                <a:srgbClr val="333333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  <a:p>
            <a:pPr marL="0" indent="0" algn="ctr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ITS2序列对亲缘关系较远的伪品具有极高的鉴别效力，但对近缘物种（如同属近缘种）的鉴别存在局限性，需采用“分子+形态+化学”多维度联合鉴定模式。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图片 7" descr="C:/Users/ZMZ/Desktop/屏幕截图 2026-06-25 194519.png屏幕截图 2026-06-25 194519"/>
          <p:cNvPicPr>
            <a:picLocks noChangeAspect="1"/>
          </p:cNvPicPr>
          <p:nvPr/>
        </p:nvPicPr>
        <p:blipFill>
          <a:blip r:embed="rId2"/>
          <a:srcRect t="2028" b="2028"/>
          <a:stretch>
            <a:fillRect/>
          </a:stretch>
        </p:blipFill>
        <p:spPr>
          <a:xfrm>
            <a:off x="38100" y="1434465"/>
            <a:ext cx="12005945" cy="1099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图片 3" descr="构棘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" y="3371215"/>
            <a:ext cx="12151995" cy="1166495"/>
          </a:xfrm>
          <a:prstGeom prst="rect">
            <a:avLst/>
          </a:prstGeom>
        </p:spPr>
      </p:pic>
      <p:sp>
        <p:nvSpPr>
          <p:cNvPr id="15" name="AutoShape 10"/>
          <p:cNvSpPr/>
          <p:nvPr/>
        </p:nvSpPr>
        <p:spPr>
          <a:xfrm>
            <a:off x="38100" y="4407535"/>
            <a:ext cx="12192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01 可区分案例：桑 vs </a:t>
            </a:r>
            <a:r>
              <a:rPr lang="zh-CN" alt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构棘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08000"/>
              </a:lnSpc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桑和构棘相似度84.69%，存在连续7个差异位点，存在20个以上鉴别位点可以区分。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0" y="1282700"/>
            <a:ext cx="12204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215900" y="660400"/>
            <a:ext cx="1187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中药鉴定学分析：ITS2序列比对示例</a:t>
            </a:r>
            <a:endParaRPr lang="en-US" sz="32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Page 29</a:t>
            </a:r>
            <a:endParaRPr lang="en-US" sz="1400" b="0" i="0" u="none" strike="noStrike">
              <a:solidFill>
                <a:srgbClr val="FFFFFF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0" y="2635250"/>
            <a:ext cx="12192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01 可区分案例：桑 vs </a:t>
            </a:r>
            <a:r>
              <a:rPr lang="zh-CN" alt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柘树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08000"/>
              </a:lnSpc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桑和柘树相似度88.10%，存在连续7个差异位点，存在83个鉴别位点可以区分。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27000" y="3416300"/>
            <a:ext cx="11963400" cy="16116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FF0000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  <a:sym typeface="微软雅黑" panose="020B0503020204020204" charset="-122"/>
              </a:rPr>
              <a:t>核心结论：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  <a:sym typeface="Noto Sans SC"/>
              </a:rPr>
              <a:t>这表明ITS2序列能够作为可靠的分子标记，有效区分正品桑白皮与常见伪品构树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  <a:sym typeface="Noto Sans SC"/>
              </a:rPr>
              <a:t>、构棘、柘树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  <a:sym typeface="Noto Sans SC"/>
              </a:rPr>
              <a:t>，为中药材真伪鉴别提供有力的技术支撑。</a:t>
            </a: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  <a:sym typeface="Noto Sans SC"/>
              </a:rPr>
              <a:t>ITS2序列对亲缘关系较远的伪品具有极高的鉴别效力，但对近缘物种（如同属近缘种）的鉴别存在局限性，需采用“分子+形态+化学”多维度联合鉴定模式。</a:t>
            </a:r>
            <a:endParaRPr 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+mn-ea"/>
              <a:cs typeface="Times New Roman" panose="02020603050405020304" charset="0"/>
              <a:sym typeface="Noto Sans SC"/>
            </a:endParaRPr>
          </a:p>
        </p:txBody>
      </p:sp>
      <p:pic>
        <p:nvPicPr>
          <p:cNvPr id="8" name="图片 8" descr="C:/Users/ZMZ/Desktop/屏幕截图 2026-06-25 195230.png屏幕截图 2026-06-25 195230"/>
          <p:cNvPicPr>
            <a:picLocks noChangeAspect="1"/>
          </p:cNvPicPr>
          <p:nvPr/>
        </p:nvPicPr>
        <p:blipFill>
          <a:blip r:embed="rId2"/>
          <a:srcRect l="2873" r="2873"/>
          <a:stretch>
            <a:fillRect/>
          </a:stretch>
        </p:blipFill>
        <p:spPr>
          <a:xfrm>
            <a:off x="-135255" y="1416050"/>
            <a:ext cx="12339955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0" y="1282700"/>
            <a:ext cx="12204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215900" y="660400"/>
            <a:ext cx="1187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中药鉴定学分析：psbA-trnH序列的表现</a:t>
            </a:r>
            <a:endParaRPr lang="en-US" sz="32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Page 14</a:t>
            </a:r>
            <a:endParaRPr lang="en-US" sz="1400" b="0" i="0" u="none" strike="noStrike">
              <a:solidFill>
                <a:srgbClr val="FFFFFF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79400" y="1447800"/>
            <a:ext cx="5181600" cy="5168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34D7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537200" y="1447800"/>
            <a:ext cx="6350000" cy="5168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34D7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" y="1574800"/>
            <a:ext cx="4724400" cy="4445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ADC0E8">
                  <a:alpha val="100000"/>
                </a:srgbClr>
              </a:gs>
              <a:gs pos="47000">
                <a:srgbClr val="ADC0E8">
                  <a:alpha val="100000"/>
                </a:srgbClr>
              </a:gs>
              <a:gs pos="100000">
                <a:srgbClr val="F6F8F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06400" y="1574800"/>
            <a:ext cx="444500" cy="444500"/>
          </a:xfrm>
          <a:prstGeom prst="ellipse">
            <a:avLst/>
          </a:prstGeom>
          <a:solidFill>
            <a:srgbClr val="334D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867400" y="1574800"/>
            <a:ext cx="5740400" cy="4445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ADC0E8">
                  <a:alpha val="100000"/>
                </a:srgbClr>
              </a:gs>
              <a:gs pos="47000">
                <a:srgbClr val="ADC0E8">
                  <a:alpha val="100000"/>
                </a:srgbClr>
              </a:gs>
              <a:gs pos="100000">
                <a:srgbClr val="F6F8F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38200" y="1536700"/>
            <a:ext cx="44323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系统进化树特征</a:t>
            </a:r>
            <a:endParaRPr lang="en-US" sz="28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134100" y="1536700"/>
            <a:ext cx="53086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鉴定效能与核心结论</a:t>
            </a:r>
            <a:endParaRPr lang="en-US" sz="28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42900" y="1536700"/>
            <a:ext cx="508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(2)</a:t>
            </a:r>
            <a:endParaRPr lang="en-US" sz="2200" b="1" i="0" u="none" strike="noStrik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rcRect l="812" r="812"/>
          <a:stretch>
            <a:fillRect/>
          </a:stretch>
        </p:blipFill>
        <p:spPr>
          <a:xfrm>
            <a:off x="1409700" y="2349500"/>
            <a:ext cx="2921000" cy="317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280035" y="5651500"/>
            <a:ext cx="518096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图：基于psbA-trnH序列构建的系统发育树，显示桑与伪品的聚类关系。</a:t>
            </a:r>
            <a:endParaRPr lang="en-US" sz="14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867400" y="2349500"/>
            <a:ext cx="5740400" cy="393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520700" indent="-228600"/>
            <a:lvl2pPr marL="977900" indent="-228600"/>
            <a:lvl3pPr marL="1435100" indent="-228600"/>
            <a:lvl4pPr marL="1892300" indent="-228600"/>
            <a:lvl5pPr marL="2349500" indent="-228600"/>
            <a:lvl6pPr marL="2806700" indent="-228600"/>
            <a:lvl7pPr marL="3263900" indent="-228600"/>
            <a:lvl8pPr marL="3721100" indent="-228600"/>
            <a:lvl9pPr marL="4178300" indent="-228600"/>
          </a:lstStyle>
          <a:p>
            <a:pPr marL="292100" indent="-279400" algn="l">
              <a:lnSpc>
                <a:spcPct val="108000"/>
              </a:lnSpc>
              <a:buClr>
                <a:srgbClr val="002060"/>
              </a:buClr>
              <a:buFont typeface="Arial" panose="020B0604020202020204"/>
              <a:buChar char="•"/>
              <a:defRPr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桑属内鉴别：位点缺失，无法区分</a:t>
            </a:r>
            <a:br>
              <a:rPr lang="en-US" sz="2000" b="0" i="0" u="none" strike="noStrike">
                <a:solidFill>
                  <a:srgbClr val="1F2329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</a:b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桑与鸡桑、华桑等近缘物种间无特异性鉴别位点，序列相似度极高，无法实现种间的有效鉴别。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92100" indent="-279400" algn="l">
              <a:lnSpc>
                <a:spcPct val="108000"/>
              </a:lnSpc>
              <a:buClr>
                <a:srgbClr val="002060"/>
              </a:buClr>
              <a:buFont typeface="Arial" panose="020B0604020202020204"/>
              <a:buChar char="•"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跨属鉴别：变异显著，清晰区分</a:t>
            </a:r>
            <a:br>
              <a:rPr lang="en-US" sz="2000" b="0" i="0" u="none" strike="noStrike">
                <a:solidFill>
                  <a:srgbClr val="1F2329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</a:b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与构树、柘树、构棘等非桑属伪品相比，序列差异位点丰富，可作为可靠的分子标记进行真伪鉴别。</a:t>
            </a:r>
            <a:endParaRPr lang="en-US" sz="2000" b="0" i="0" u="none" strike="noStrike">
              <a:solidFill>
                <a:srgbClr val="333333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  <a:p>
            <a:pPr marL="292100" indent="-279400" algn="l">
              <a:lnSpc>
                <a:spcPct val="108000"/>
              </a:lnSpc>
              <a:buClr>
                <a:srgbClr val="002060"/>
              </a:buClr>
              <a:buFont typeface="Arial" panose="020B0604020202020204"/>
              <a:buChar char="•"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综合评价：属间有效，属内受限</a:t>
            </a:r>
            <a:br>
              <a:rPr lang="en-US" sz="2000" b="0" i="0" u="none" strike="noStrike">
                <a:solidFill>
                  <a:srgbClr val="1F2329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</a:b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效能与ITS2序列相似，适合排查远缘伪品，但对桑属内近缘混伪品的鉴别存在局限，需结合形态或其他标记。</a:t>
            </a:r>
            <a:endParaRPr 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0" y="1282700"/>
            <a:ext cx="12204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215900" y="660400"/>
            <a:ext cx="1187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核心研究结论</a:t>
            </a:r>
            <a:endParaRPr lang="en-US" sz="32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Page 35</a:t>
            </a:r>
            <a:endParaRPr lang="en-US" sz="1400" b="0" i="0" u="none" strike="noStrike">
              <a:solidFill>
                <a:srgbClr val="FFFFFF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92100" y="1778000"/>
            <a:ext cx="113030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127000" rIns="88900" bIns="127000" rtlCol="0" anchor="t" anchorCtr="0"/>
          <a:lstStyle>
            <a:lvl1pPr marL="736600" indent="-279400"/>
            <a:lvl2pPr marL="1193800" indent="-279400"/>
            <a:lvl3pPr marL="1651000" indent="-279400"/>
            <a:lvl4pPr marL="2108200" indent="-279400"/>
            <a:lvl5pPr marL="2565400" indent="-279400"/>
            <a:lvl6pPr marL="3022600" indent="-279400"/>
            <a:lvl7pPr marL="3479800" indent="-279400"/>
            <a:lvl8pPr marL="3937000" indent="-279400"/>
            <a:lvl9pPr marL="4394200" indent="-279400"/>
          </a:lstStyle>
          <a:p>
            <a:pPr marL="457200" indent="-457200" algn="l">
              <a:lnSpc>
                <a:spcPct val="117000"/>
              </a:lnSpc>
              <a:buClr>
                <a:srgbClr val="002060"/>
              </a:buClr>
              <a:buFont typeface="Arial" panose="020B0604020202020204"/>
              <a:buChar char="•"/>
              <a:defRPr/>
            </a:pPr>
            <a:r>
              <a:rPr lang="en-US" sz="24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数据质量决定结论可靠性</a:t>
            </a:r>
            <a:br>
              <a:rPr lang="en-US" sz="2400" b="0" i="0" u="none" strike="noStrike">
                <a:solidFill>
                  <a:srgbClr val="1F2329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</a:br>
            <a:r>
              <a:rPr lang="en-US" sz="2400" b="0" i="0" u="none" strike="noStrik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前人认为“ITS2可有效鉴定桑白皮”的结论，建立在样本覆盖不完整、数据筛选存在偏差的基础上，其结论的普适性与准确性存在明显局限。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lnSpc>
                <a:spcPct val="117000"/>
              </a:lnSpc>
              <a:buClr>
                <a:srgbClr val="002060"/>
              </a:buClr>
              <a:buFont typeface="Arial" panose="020B0604020202020204"/>
              <a:buChar char="•"/>
            </a:pPr>
            <a:r>
              <a:rPr lang="en-US" sz="24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ITS2序列的鉴别效能存在边界</a:t>
            </a:r>
            <a:br>
              <a:rPr lang="en-US" sz="2400" b="0" i="0" u="none" strike="noStrike">
                <a:solidFill>
                  <a:srgbClr val="1F2329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</a:br>
            <a:r>
              <a:rPr lang="en-US" sz="2400" b="0" i="0" u="none" strike="noStrik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该序列能有效区分桑白皮与非桑属伪品，但对鸡桑、华桑等桑属近缘物种的鉴别能力显著不足，无法实现正品与近缘伪品的精准区分。</a:t>
            </a:r>
            <a:endParaRPr lang="en-US" sz="2400" b="0" i="0" u="none" strike="noStrik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  <a:p>
            <a:pPr marL="457200" indent="-457200" algn="l">
              <a:lnSpc>
                <a:spcPct val="117000"/>
              </a:lnSpc>
              <a:buClr>
                <a:srgbClr val="002060"/>
              </a:buClr>
              <a:buFont typeface="Arial" panose="020B0604020202020204"/>
              <a:buChar char="•"/>
            </a:pPr>
            <a:r>
              <a:rPr lang="en-US" sz="24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psbA-trnH序列存在属内鉴别盲区</a:t>
            </a:r>
            <a:br>
              <a:rPr lang="en-US" sz="2400" b="0" i="0" u="none" strike="noStrike">
                <a:solidFill>
                  <a:srgbClr val="1F2329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</a:br>
            <a:r>
              <a:rPr lang="en-US" sz="2400" b="0" i="0" u="none" strike="noStrik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该片段在桑属内不同物种间的序列差异极小，几乎无法用于属内物种鉴别，仅能作为区分桑属与其他属伪品的辅助分子标记。</a:t>
            </a:r>
            <a:endParaRPr lang="en-US" sz="2400" b="0" i="0" u="none" strike="noStrik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437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5" y="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114300"/>
            <a:ext cx="16129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0" y="1282700"/>
            <a:ext cx="12204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215900" y="660400"/>
            <a:ext cx="11874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研究启示与未来展望</a:t>
            </a:r>
            <a:endParaRPr lang="en-US" sz="3200" b="1" i="0" u="none" strike="noStrike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1239500" y="330200"/>
            <a:ext cx="96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Page 35</a:t>
            </a:r>
            <a:endParaRPr lang="en-US" sz="1400" b="0" i="0" u="none" strike="noStrike">
              <a:solidFill>
                <a:srgbClr val="FFFFFF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92100" y="1651000"/>
            <a:ext cx="11557000" cy="444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101600" rIns="88900" bIns="101600" rtlCol="0" anchor="t" anchorCtr="0"/>
          <a:lstStyle>
            <a:lvl1pPr marL="457200" indent="-203200"/>
            <a:lvl2pPr marL="914400" indent="-203200"/>
            <a:lvl3pPr marL="1371600" indent="-203200"/>
            <a:lvl4pPr marL="1828800" indent="-203200"/>
            <a:lvl5pPr marL="2286000" indent="-203200"/>
            <a:lvl6pPr marL="2743200" indent="-203200"/>
            <a:lvl7pPr marL="3200400" indent="-203200"/>
            <a:lvl8pPr marL="3657600" indent="-203200"/>
            <a:lvl9pPr marL="4114800" indent="-203200"/>
          </a:lstStyle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01 研究启示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203200" algn="l">
              <a:lnSpc>
                <a:spcPct val="108000"/>
              </a:lnSpc>
              <a:buClr>
                <a:srgbClr val="333333"/>
              </a:buClr>
              <a:buFont typeface="Arial" panose="020B0604020202020204"/>
              <a:buChar char="•"/>
            </a:pPr>
            <a:r>
              <a:rPr lang="en-US" sz="2000" b="1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严守数据严谨性底线：</a:t>
            </a: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DNA条形码研究的结论可靠性完全建立在数据质量之上，必须对测序数据进行严格的质控、筛选与清洗，剔除低质量读段、嵌合序列及污染数据，确保基础数据的准确性与完整性。</a:t>
            </a:r>
            <a:endParaRPr 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  <a:p>
            <a:pPr marL="457200" indent="-203200" algn="l">
              <a:lnSpc>
                <a:spcPct val="108000"/>
              </a:lnSpc>
              <a:buClr>
                <a:srgbClr val="333333"/>
              </a:buClr>
              <a:buFont typeface="Arial" panose="020B0604020202020204"/>
              <a:buChar char="•"/>
            </a:pPr>
            <a:r>
              <a:rPr lang="en-US" sz="2000" b="1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保持批判性文献解读：</a:t>
            </a: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对已发表的相关研究结论需保持审慎态度，不盲目采信；针对关键结论或存疑点，应通过数据复现、重新分析等方式进行验证，避免因引用偏差结论而导致研究方向的偏离。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02 未来展望</a:t>
            </a:r>
            <a:endParaRPr lang="en-US" sz="2000" b="1" i="0" u="none" strike="noStrike">
              <a:solidFill>
                <a:srgbClr val="00206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  <a:p>
            <a:pPr marL="457200" indent="-203200" algn="l">
              <a:lnSpc>
                <a:spcPct val="108000"/>
              </a:lnSpc>
              <a:buClr>
                <a:srgbClr val="333333"/>
              </a:buClr>
              <a:buFont typeface="Arial" panose="020B0604020202020204"/>
              <a:buChar char="•"/>
            </a:pPr>
            <a:r>
              <a:rPr lang="en-US" sz="2000" b="1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挖掘高分辨率分子标记：</a:t>
            </a: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突破传统通用条形码的局限，重点探索叶绿体全基因组、单拷贝核基因及低拷贝核基因等具有更高变异潜力的分子片段，筛选出能精准区分近缘物种、疑难类群的高效条形码。</a:t>
            </a:r>
            <a:endParaRPr 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  <a:p>
            <a:pPr marL="457200" indent="-203200" algn="l">
              <a:lnSpc>
                <a:spcPct val="108000"/>
              </a:lnSpc>
              <a:buClr>
                <a:srgbClr val="333333"/>
              </a:buClr>
              <a:buFont typeface="Arial" panose="020B0604020202020204"/>
              <a:buChar char="•"/>
            </a:pPr>
            <a:r>
              <a:rPr lang="en-US" sz="2000" b="1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推进多基因联合分析策略：</a:t>
            </a: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Noto Sans SC"/>
                <a:cs typeface="Times New Roman" panose="02020603050405020304" charset="0"/>
                <a:sym typeface="Noto Sans SC"/>
              </a:rPr>
              <a:t>采用“核心条形码+辅助条形码”的多片段联合分析模式，整合不同基因位点的进化信息，大幅提升物种鉴定的成功率与准确性，解决单一片段难以区分近缘种的技术瓶颈。</a:t>
            </a:r>
            <a:endParaRPr 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Noto Sans SC"/>
              <a:cs typeface="Times New Roman" panose="02020603050405020304" charset="0"/>
              <a:sym typeface="Noto Sans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781300"/>
            <a:ext cx="12192000" cy="4102100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t="10894"/>
          <a:stretch>
            <a:fillRect/>
          </a:stretch>
        </p:blipFill>
        <p:spPr>
          <a:xfrm>
            <a:off x="0" y="-139700"/>
            <a:ext cx="12192000" cy="2908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58800" y="2844800"/>
            <a:ext cx="110236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汇报总结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292600" y="4965700"/>
            <a:ext cx="16383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dist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汇报人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105400" y="6400800"/>
            <a:ext cx="1943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2026年07月20日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485900" y="3594100"/>
            <a:ext cx="92837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508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汇报完毕，请老师批评指正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020300" y="6197600"/>
            <a:ext cx="21590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5905500" y="4965700"/>
            <a:ext cx="4152900" cy="469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：[汇报人姓名]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>
            <a:off x="1346200" y="3517900"/>
            <a:ext cx="944880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FFFFFF">
                    <a:alpha val="1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prstDash val="solid"/>
            <a:miter lim="100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9,&quot;left&quot;:406,&quot;top&quot;:120,&quot;width&quot;:402}"/>
</p:tagLst>
</file>

<file path=ppt/tags/tag2.xml><?xml version="1.0" encoding="utf-8"?>
<p:tagLst xmlns:p="http://schemas.openxmlformats.org/presentationml/2006/main">
  <p:tag name="KSO_WM_DIAGRAM_VIRTUALLY_FRAME" val="{&quot;height&quot;:269,&quot;left&quot;:406,&quot;top&quot;:120,&quot;width&quot;:402}"/>
</p:tagLst>
</file>

<file path=ppt/tags/tag3.xml><?xml version="1.0" encoding="utf-8"?>
<p:tagLst xmlns:p="http://schemas.openxmlformats.org/presentationml/2006/main">
  <p:tag name="KSO_WM_DIAGRAM_VIRTUALLY_FRAME" val="{&quot;height&quot;:269,&quot;left&quot;:406,&quot;top&quot;:120,&quot;width&quot;:402}"/>
</p:tagLst>
</file>

<file path=ppt/tags/tag4.xml><?xml version="1.0" encoding="utf-8"?>
<p:tagLst xmlns:p="http://schemas.openxmlformats.org/presentationml/2006/main">
  <p:tag name="KSO_WM_DIAGRAM_VIRTUALLY_FRAME" val="{&quot;height&quot;:269,&quot;left&quot;:406,&quot;top&quot;:120,&quot;width&quot;:402}"/>
</p:tagLst>
</file>

<file path=ppt/tags/tag5.xml><?xml version="1.0" encoding="utf-8"?>
<p:tagLst xmlns:p="http://schemas.openxmlformats.org/presentationml/2006/main">
  <p:tag name="KSO_WM_DIAGRAM_VIRTUALLY_FRAME" val="{&quot;height&quot;:269,&quot;left&quot;:406,&quot;top&quot;:120,&quot;width&quot;:402}"/>
</p:tagLst>
</file>

<file path=ppt/tags/tag6.xml><?xml version="1.0" encoding="utf-8"?>
<p:tagLst xmlns:p="http://schemas.openxmlformats.org/presentationml/2006/main">
  <p:tag name="KSO_WM_DIAGRAM_VIRTUALLY_FRAME" val="{&quot;height&quot;:269,&quot;left&quot;:406,&quot;top&quot;:120,&quot;width&quot;:402}"/>
</p:tagLst>
</file>

<file path=ppt/tags/tag7.xml><?xml version="1.0" encoding="utf-8"?>
<p:tagLst xmlns:p="http://schemas.openxmlformats.org/presentationml/2006/main">
  <p:tag name="KSO_WM_DIAGRAM_VIRTUALLY_FRAME" val="{&quot;height&quot;:269,&quot;left&quot;:406,&quot;top&quot;:120,&quot;width&quot;:402}"/>
</p:tagLst>
</file>

<file path=ppt/tags/tag8.xml><?xml version="1.0" encoding="utf-8"?>
<p:tagLst xmlns:p="http://schemas.openxmlformats.org/presentationml/2006/main">
  <p:tag name="KSO_WM_DIAGRAM_VIRTUALLY_FRAME" val="{&quot;height&quot;:269,&quot;left&quot;:406,&quot;top&quot;:120,&quot;width&quot;:402}"/>
</p:tagLst>
</file>

<file path=ppt/tags/tag9.xml><?xml version="1.0" encoding="utf-8"?>
<p:tagLst xmlns:p="http://schemas.openxmlformats.org/presentationml/2006/main">
  <p:tag name="KSO_WM_DIAGRAM_VIRTUALLY_FRAME" val="{&quot;height&quot;:269,&quot;left&quot;:406,&quot;top&quot;:120,&quot;width&quot;:402}"/>
</p:tagLst>
</file>

<file path=ppt/tags/tag10.xml><?xml version="1.0" encoding="utf-8"?>
<p:tagLst xmlns:p="http://schemas.openxmlformats.org/presentationml/2006/main">
  <p:tag name="KSO_WM_DIAGRAM_VIRTUALLY_FRAME" val="{&quot;height&quot;:269,&quot;left&quot;:406,&quot;top&quot;:120,&quot;width&quot;:402}"/>
</p:tagLst>
</file>

<file path=ppt/tags/tag11.xml><?xml version="1.0" encoding="utf-8"?>
<p:tagLst xmlns:p="http://schemas.openxmlformats.org/presentationml/2006/main">
  <p:tag name="KSO_WM_DIAGRAM_VIRTUALLY_FRAME" val="{&quot;height&quot;:270.6,&quot;left&quot;:110,&quot;top&quot;:104.4,&quot;width&quot;:670}"/>
</p:tagLst>
</file>

<file path=ppt/tags/tag12.xml><?xml version="1.0" encoding="utf-8"?>
<p:tagLst xmlns:p="http://schemas.openxmlformats.org/presentationml/2006/main">
  <p:tag name="KSO_WM_DIAGRAM_VIRTUALLY_FRAME" val="{&quot;height&quot;:270.6,&quot;left&quot;:110,&quot;top&quot;:104.4,&quot;width&quot;:670}"/>
</p:tagLst>
</file>

<file path=ppt/tags/tag13.xml><?xml version="1.0" encoding="utf-8"?>
<p:tagLst xmlns:p="http://schemas.openxmlformats.org/presentationml/2006/main">
  <p:tag name="KSO_WM_DIAGRAM_VIRTUALLY_FRAME" val="{&quot;height&quot;:270.6,&quot;left&quot;:110,&quot;top&quot;:104.4,&quot;width&quot;:670}"/>
</p:tagLst>
</file>

<file path=ppt/tags/tag14.xml><?xml version="1.0" encoding="utf-8"?>
<p:tagLst xmlns:p="http://schemas.openxmlformats.org/presentationml/2006/main">
  <p:tag name="KSO_WM_DIAGRAM_VIRTUALLY_FRAME" val="{&quot;height&quot;:270.6,&quot;left&quot;:110,&quot;top&quot;:104.4,&quot;width&quot;:67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4556</Words>
  <Application>WPS 演示</Application>
  <PresentationFormat/>
  <Paragraphs>264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21</vt:i4>
      </vt:variant>
    </vt:vector>
  </HeadingPairs>
  <TitlesOfParts>
    <vt:vector size="41" baseType="lpstr">
      <vt:lpstr>Arial</vt:lpstr>
      <vt:lpstr>宋体</vt:lpstr>
      <vt:lpstr>Wingdings</vt:lpstr>
      <vt:lpstr>Arial</vt:lpstr>
      <vt:lpstr>微软雅黑</vt:lpstr>
      <vt:lpstr>Calibri</vt:lpstr>
      <vt:lpstr>黑体</vt:lpstr>
      <vt:lpstr>Times New Roman</vt:lpstr>
      <vt:lpstr>Noto Sans SC</vt:lpstr>
      <vt:lpstr>Segoe Print</vt:lpstr>
      <vt:lpstr>Arial Unicode MS</vt:lpstr>
      <vt:lpstr>Calibri</vt:lpstr>
      <vt:lpstr>Noto Sans SC</vt:lpstr>
      <vt:lpstr>Office 主题​​</vt:lpstr>
      <vt:lpstr>默认主题</vt:lpstr>
      <vt:lpstr>1_默认主题</vt:lpstr>
      <vt:lpstr>5_默认主题</vt:lpstr>
      <vt:lpstr>3_默认主题</vt:lpstr>
      <vt:lpstr>4_默认主题</vt:lpstr>
      <vt:lpstr>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Ayanami Ring</cp:lastModifiedBy>
  <cp:revision>3</cp:revision>
  <dcterms:created xsi:type="dcterms:W3CDTF">2026-07-05T10:26:00Z</dcterms:created>
  <dcterms:modified xsi:type="dcterms:W3CDTF">2026-07-11T05:20:08Z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{"Label":"1","ContentProducer":"001191110102MACQD9K64010000","ProduceID":"7658967115571874775","ReservedCode1":"","ContentPropagator":"","PropagateID":"","ReservedCode2":""}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68335B73D5D046FBAADB97BFA718BADD_13</vt:lpwstr>
  </property>
</Properties>
</file>