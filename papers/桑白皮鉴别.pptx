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436" r:id="rId4"/>
    <p:sldId id="437" r:id="rId5"/>
    <p:sldId id="340" r:id="rId7"/>
    <p:sldId id="342" r:id="rId8"/>
    <p:sldId id="343" r:id="rId9"/>
    <p:sldId id="347" r:id="rId10"/>
    <p:sldId id="348" r:id="rId11"/>
    <p:sldId id="349" r:id="rId12"/>
    <p:sldId id="344" r:id="rId13"/>
    <p:sldId id="352" r:id="rId14"/>
    <p:sldId id="353" r:id="rId15"/>
    <p:sldId id="354" r:id="rId16"/>
    <p:sldId id="350" r:id="rId17"/>
    <p:sldId id="351" r:id="rId18"/>
    <p:sldId id="346" r:id="rId19"/>
    <p:sldId id="356" r:id="rId20"/>
    <p:sldId id="355" r:id="rId21"/>
    <p:sldId id="357" r:id="rId22"/>
    <p:sldId id="358" r:id="rId23"/>
    <p:sldId id="362" r:id="rId24"/>
    <p:sldId id="364" r:id="rId25"/>
    <p:sldId id="365" r:id="rId26"/>
    <p:sldId id="367" r:id="rId27"/>
    <p:sldId id="368" r:id="rId28"/>
    <p:sldId id="369" r:id="rId29"/>
    <p:sldId id="372" r:id="rId30"/>
    <p:sldId id="373" r:id="rId31"/>
    <p:sldId id="374" r:id="rId32"/>
    <p:sldId id="375" r:id="rId33"/>
    <p:sldId id="376" r:id="rId34"/>
    <p:sldId id="377" r:id="rId35"/>
    <p:sldId id="378" r:id="rId36"/>
    <p:sldId id="391" r:id="rId37"/>
    <p:sldId id="379" r:id="rId38"/>
    <p:sldId id="380" r:id="rId39"/>
    <p:sldId id="381" r:id="rId40"/>
    <p:sldId id="392" r:id="rId41"/>
    <p:sldId id="382" r:id="rId42"/>
    <p:sldId id="383" r:id="rId43"/>
    <p:sldId id="393" r:id="rId44"/>
    <p:sldId id="384" r:id="rId45"/>
    <p:sldId id="385" r:id="rId46"/>
    <p:sldId id="386" r:id="rId47"/>
    <p:sldId id="396" r:id="rId48"/>
    <p:sldId id="411" r:id="rId49"/>
    <p:sldId id="387" r:id="rId50"/>
    <p:sldId id="397" r:id="rId51"/>
    <p:sldId id="409" r:id="rId52"/>
    <p:sldId id="401" r:id="rId53"/>
    <p:sldId id="412" r:id="rId54"/>
    <p:sldId id="416" r:id="rId55"/>
    <p:sldId id="418" r:id="rId56"/>
    <p:sldId id="404" r:id="rId57"/>
    <p:sldId id="423" r:id="rId58"/>
    <p:sldId id="407" r:id="rId59"/>
    <p:sldId id="408" r:id="rId60"/>
    <p:sldId id="434" r:id="rId61"/>
    <p:sldId id="435" r:id="rId62"/>
    <p:sldId id="415" r:id="rId63"/>
    <p:sldId id="425" r:id="rId64"/>
    <p:sldId id="427" r:id="rId65"/>
    <p:sldId id="429" r:id="rId66"/>
    <p:sldId id="430" r:id="rId67"/>
    <p:sldId id="431" r:id="rId68"/>
    <p:sldId id="433" r:id="rId69"/>
    <p:sldId id="428" r:id="rId70"/>
    <p:sldId id="432" r:id="rId71"/>
    <p:sldId id="366" r:id="rId72"/>
    <p:sldId id="331" r:id="rId73"/>
    <p:sldId id="439" r:id="rId74"/>
    <p:sldId id="438" r:id="rId75"/>
    <p:sldId id="306" r:id="rId7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9" Type="http://schemas.openxmlformats.org/officeDocument/2006/relationships/tableStyles" Target="tableStyles.xml"/><Relationship Id="rId78" Type="http://schemas.openxmlformats.org/officeDocument/2006/relationships/viewProps" Target="viewProps.xml"/><Relationship Id="rId77" Type="http://schemas.openxmlformats.org/officeDocument/2006/relationships/presProps" Target="presProps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tags" Target="../tags/tag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image" Target="../media/image48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桑白皮的鉴定和质量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《中国药典》桑白皮标准回顾</a:t>
            </a:r>
            <a:endParaRPr lang="zh-CN" altLang="en-US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01235" cy="4351655"/>
          </a:xfrm>
        </p:spPr>
        <p:txBody>
          <a:bodyPr>
            <a:normAutofit/>
          </a:bodyPr>
          <a:p>
            <a:r>
              <a:rPr lang="zh-CN" altLang="en-US" b="1"/>
              <a:t>药材</a:t>
            </a:r>
            <a:endParaRPr lang="zh-CN" altLang="en-US" b="1"/>
          </a:p>
          <a:p>
            <a:r>
              <a:rPr lang="en-US" altLang="zh-CN" b="1"/>
              <a:t>  </a:t>
            </a:r>
            <a:r>
              <a:rPr lang="zh-CN" altLang="en-US" b="1"/>
              <a:t>来源</a:t>
            </a:r>
            <a:endParaRPr lang="zh-CN" altLang="en-US" b="1"/>
          </a:p>
          <a:p>
            <a:r>
              <a:rPr lang="zh-CN" altLang="en-US" b="1"/>
              <a:t>【性状】</a:t>
            </a:r>
            <a:endParaRPr lang="zh-CN" altLang="en-US"/>
          </a:p>
          <a:p>
            <a:r>
              <a:rPr lang="zh-CN" altLang="en-US" b="1"/>
              <a:t>【鉴别】</a:t>
            </a:r>
            <a:endParaRPr lang="zh-CN" altLang="en-US" b="1"/>
          </a:p>
          <a:p>
            <a:r>
              <a:rPr lang="zh-CN" altLang="en-US"/>
              <a:t>横切面显微</a:t>
            </a:r>
            <a:endParaRPr lang="zh-CN" altLang="en-US"/>
          </a:p>
          <a:p>
            <a:r>
              <a:rPr lang="zh-CN" altLang="en-US"/>
              <a:t>粉末显微</a:t>
            </a:r>
            <a:endParaRPr lang="zh-CN" altLang="en-US"/>
          </a:p>
          <a:p>
            <a:r>
              <a:rPr lang="zh-CN" altLang="en-US"/>
              <a:t>对照药材</a:t>
            </a:r>
            <a:r>
              <a:rPr lang="en-US" altLang="zh-CN"/>
              <a:t>TLC</a:t>
            </a:r>
            <a:endParaRPr lang="en-US" altLang="zh-CN"/>
          </a:p>
          <a:p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3361055" y="1625600"/>
            <a:ext cx="6729730" cy="509079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700" b="1">
                <a:sym typeface="+mn-ea"/>
              </a:rPr>
              <a:t>饮片</a:t>
            </a:r>
            <a:endParaRPr lang="zh-CN" altLang="en-US" sz="2700" b="1"/>
          </a:p>
          <a:p>
            <a:r>
              <a:rPr lang="zh-CN" altLang="en-US" sz="2700" b="1">
                <a:sym typeface="+mn-ea"/>
              </a:rPr>
              <a:t>【炮制】</a:t>
            </a:r>
            <a:endParaRPr lang="zh-CN" altLang="en-US" sz="2700"/>
          </a:p>
          <a:p>
            <a:r>
              <a:rPr lang="zh-CN" altLang="en-US" sz="2700" b="1">
                <a:sym typeface="+mn-ea"/>
              </a:rPr>
              <a:t>（</a:t>
            </a:r>
            <a:r>
              <a:rPr lang="en-US" altLang="zh-CN" sz="2700" b="1">
                <a:sym typeface="+mn-ea"/>
              </a:rPr>
              <a:t>1</a:t>
            </a:r>
            <a:r>
              <a:rPr lang="zh-CN" altLang="en-US" sz="2700" b="1">
                <a:sym typeface="+mn-ea"/>
              </a:rPr>
              <a:t>）桑白皮</a:t>
            </a:r>
            <a:endParaRPr lang="zh-CN" altLang="en-US" sz="2700"/>
          </a:p>
          <a:p>
            <a:r>
              <a:rPr lang="zh-CN" altLang="en-US" sz="2700" b="1">
                <a:sym typeface="+mn-ea"/>
              </a:rPr>
              <a:t>【性状】</a:t>
            </a:r>
            <a:endParaRPr lang="zh-CN" altLang="en-US" sz="2700"/>
          </a:p>
          <a:p>
            <a:r>
              <a:rPr lang="zh-CN" altLang="en-US" sz="2700" b="1">
                <a:sym typeface="+mn-ea"/>
              </a:rPr>
              <a:t>【检查】</a:t>
            </a:r>
            <a:r>
              <a:rPr lang="zh-CN" altLang="en-US" sz="2700">
                <a:sym typeface="+mn-ea"/>
              </a:rPr>
              <a:t>水分</a:t>
            </a:r>
            <a:r>
              <a:rPr lang="zh-CN" altLang="en-US" sz="2700">
                <a:sym typeface="+mn-ea"/>
              </a:rPr>
              <a:t>不得过10.0%</a:t>
            </a:r>
            <a:endParaRPr lang="zh-CN" altLang="en-US" sz="2700"/>
          </a:p>
          <a:p>
            <a:r>
              <a:rPr lang="zh-CN" altLang="en-US" sz="2700" b="1">
                <a:sym typeface="+mn-ea"/>
              </a:rPr>
              <a:t>【鉴别】</a:t>
            </a:r>
            <a:r>
              <a:rPr lang="zh-CN" altLang="en-US" sz="2700">
                <a:sym typeface="+mn-ea"/>
              </a:rPr>
              <a:t>同药材</a:t>
            </a:r>
            <a:endParaRPr lang="zh-CN" altLang="en-US" sz="2700"/>
          </a:p>
          <a:p>
            <a:r>
              <a:rPr lang="zh-CN" sz="2700" b="1"/>
              <a:t>（</a:t>
            </a:r>
            <a:r>
              <a:rPr lang="en-US" altLang="zh-CN" sz="2700" b="1"/>
              <a:t>2</a:t>
            </a:r>
            <a:r>
              <a:rPr lang="zh-CN" sz="2700" b="1"/>
              <a:t>）蜜桑白皮</a:t>
            </a:r>
            <a:endParaRPr lang="zh-CN" sz="2700"/>
          </a:p>
          <a:p>
            <a:r>
              <a:rPr lang="zh-CN" sz="2700" b="1"/>
              <a:t>【性状】</a:t>
            </a:r>
            <a:endParaRPr lang="zh-CN" sz="2700" b="1"/>
          </a:p>
          <a:p>
            <a:r>
              <a:rPr lang="zh-CN" sz="2700" b="1"/>
              <a:t>【检查】</a:t>
            </a:r>
            <a:r>
              <a:rPr lang="zh-CN" sz="2700"/>
              <a:t>水分</a:t>
            </a:r>
            <a:r>
              <a:rPr lang="zh-CN" altLang="en-US" sz="2700"/>
              <a:t>不得过10.0%</a:t>
            </a:r>
            <a:endParaRPr lang="zh-CN" altLang="en-US" sz="2700"/>
          </a:p>
          <a:p>
            <a:r>
              <a:rPr lang="zh-CN" altLang="en-US" sz="2700" b="1"/>
              <a:t>【鉴别】</a:t>
            </a:r>
            <a:r>
              <a:rPr lang="zh-CN" altLang="en-US" sz="2700"/>
              <a:t>（除横切面外）同药材。</a:t>
            </a:r>
            <a:endParaRPr lang="zh-CN" altLang="en-US" sz="2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723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配方颗粒桑白皮标准回顾</a:t>
            </a:r>
            <a:endParaRPr lang="en-US" altLang="zh-CN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8790" y="1502410"/>
            <a:ext cx="11181080" cy="520763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【来源】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【制法】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【性状】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【鉴别】</a:t>
            </a:r>
            <a:r>
              <a:rPr lang="zh-CN" altLang="en-US"/>
              <a:t>对照药材</a:t>
            </a:r>
            <a:r>
              <a:rPr lang="en-US" altLang="zh-CN"/>
              <a:t>TLC</a:t>
            </a:r>
            <a:r>
              <a:rPr lang="zh-CN" altLang="en-US"/>
              <a:t>，两个荧光主斑点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【特征图谱】</a:t>
            </a:r>
            <a:r>
              <a:rPr lang="en-US" altLang="zh-CN"/>
              <a:t>5</a:t>
            </a:r>
            <a:r>
              <a:rPr lang="zh-CN" altLang="en-US"/>
              <a:t>个特征峰，峰</a:t>
            </a:r>
            <a:r>
              <a:rPr lang="en-US" altLang="zh-CN"/>
              <a:t>1</a:t>
            </a:r>
            <a:r>
              <a:rPr lang="zh-CN" altLang="en-US"/>
              <a:t>桑皮苷</a:t>
            </a:r>
            <a:r>
              <a:rPr lang="en-US" altLang="zh-CN"/>
              <a:t>A</a:t>
            </a:r>
            <a:r>
              <a:rPr lang="zh-CN" altLang="en-US"/>
              <a:t>，峰</a:t>
            </a:r>
            <a:r>
              <a:rPr lang="en-US" altLang="zh-CN"/>
              <a:t>5</a:t>
            </a:r>
            <a:r>
              <a:rPr lang="zh-CN" altLang="en-US"/>
              <a:t>桑黄酮</a:t>
            </a:r>
            <a:r>
              <a:rPr lang="en-US" altLang="zh-CN"/>
              <a:t>G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【检查】</a:t>
            </a:r>
            <a:r>
              <a:rPr lang="zh-CN" altLang="en-US"/>
              <a:t>符合配方颗粒各项规定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【含量测定】</a:t>
            </a:r>
            <a:r>
              <a:rPr lang="zh-CN" altLang="en-US"/>
              <a:t>桑皮苷</a:t>
            </a:r>
            <a:r>
              <a:rPr lang="en-US" altLang="zh-CN"/>
              <a:t>A 25.0mg-110.0mg/g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>
                <a:sym typeface="+mn-ea"/>
              </a:rPr>
              <a:t>对应药材的桑皮苷 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含量为</a:t>
            </a:r>
            <a:r>
              <a:rPr lang="en-US" altLang="zh-CN">
                <a:sym typeface="+mn-ea"/>
              </a:rPr>
              <a:t>0.40%∼1.72%</a:t>
            </a:r>
            <a:r>
              <a:rPr lang="zh-CN" altLang="en-US">
                <a:sym typeface="+mn-ea"/>
              </a:rPr>
              <a:t>；</a:t>
            </a:r>
            <a:r>
              <a:rPr lang="zh-CN" b="1">
                <a:sym typeface="+mn-ea"/>
              </a:rPr>
              <a:t>亳桑皮</a:t>
            </a:r>
            <a:r>
              <a:rPr lang="zh-CN">
                <a:sym typeface="+mn-ea"/>
              </a:rPr>
              <a:t>：桑皮苷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不得少于 0.90%；</a:t>
            </a:r>
            <a:r>
              <a:rPr lang="zh-CN" altLang="en-US" b="1">
                <a:sym typeface="+mn-ea"/>
              </a:rPr>
              <a:t>严桑皮</a:t>
            </a:r>
            <a:r>
              <a:rPr lang="en-US" altLang="zh-CN">
                <a:sym typeface="+mn-ea"/>
              </a:rPr>
              <a:t>0.5%–0.8%</a:t>
            </a:r>
            <a:r>
              <a:rPr lang="zh-CN" altLang="en-US">
                <a:sym typeface="+mn-ea"/>
              </a:rPr>
              <a:t>；</a:t>
            </a:r>
            <a:r>
              <a:rPr lang="zh-CN" altLang="en-US" b="1">
                <a:sym typeface="+mn-ea"/>
              </a:rPr>
              <a:t>广桑皮</a:t>
            </a:r>
            <a:r>
              <a:rPr lang="en-US" altLang="zh-CN">
                <a:sym typeface="+mn-ea"/>
              </a:rPr>
              <a:t> 0.35%–0.7%</a:t>
            </a:r>
            <a:endParaRPr lang="en-US" altLang="zh-CN"/>
          </a:p>
          <a:p>
            <a:pPr fontAlgn="auto">
              <a:lnSpc>
                <a:spcPts val="3360"/>
              </a:lnSpc>
            </a:pP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960"/>
          </a:xfrm>
        </p:spPr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078230"/>
            <a:ext cx="10515600" cy="5487670"/>
          </a:xfrm>
        </p:spPr>
        <p:txBody>
          <a:bodyPr>
            <a:normAutofit/>
          </a:bodyPr>
          <a:p>
            <a:r>
              <a:rPr lang="zh-CN" altLang="en-US"/>
              <a:t>一、桑白皮的来源</a:t>
            </a:r>
            <a:endParaRPr lang="zh-CN" altLang="en-US"/>
          </a:p>
          <a:p>
            <a:r>
              <a:rPr lang="zh-CN" altLang="en-US"/>
              <a:t>二、桑白皮品种的变异情况</a:t>
            </a:r>
            <a:endParaRPr lang="zh-CN" altLang="en-US"/>
          </a:p>
          <a:p>
            <a:r>
              <a:rPr lang="zh-CN" altLang="en-US"/>
              <a:t>三、桑白皮的产地分布及历史变迁</a:t>
            </a:r>
            <a:endParaRPr lang="zh-CN" altLang="en-US"/>
          </a:p>
          <a:p>
            <a:r>
              <a:rPr lang="zh-CN" altLang="en-US"/>
              <a:t>四、桑白皮的产地加工</a:t>
            </a:r>
            <a:endParaRPr lang="zh-CN" altLang="en-US"/>
          </a:p>
          <a:p>
            <a:r>
              <a:rPr lang="zh-CN" altLang="en-US"/>
              <a:t>五、桑白皮药材市场现状</a:t>
            </a:r>
            <a:endParaRPr lang="zh-CN" altLang="en-US"/>
          </a:p>
          <a:p>
            <a:r>
              <a:rPr lang="zh-CN" altLang="en-US"/>
              <a:t>六、桑白皮原植物与药材的鉴定</a:t>
            </a:r>
            <a:endParaRPr lang="zh-CN" altLang="en-US"/>
          </a:p>
          <a:p>
            <a:r>
              <a:rPr lang="zh-CN" altLang="en-US"/>
              <a:t>七、鸡桑、华桑、蒙桑等伪品的鉴别</a:t>
            </a:r>
            <a:endParaRPr lang="zh-CN" altLang="en-US"/>
          </a:p>
          <a:p>
            <a:r>
              <a:rPr lang="zh-CN" altLang="en-US"/>
              <a:t>八、不同产地桑白皮的性状区别</a:t>
            </a:r>
            <a:endParaRPr lang="zh-CN" altLang="en-US"/>
          </a:p>
          <a:p>
            <a:r>
              <a:rPr lang="zh-CN" altLang="en-US"/>
              <a:t>九、栽培桑白皮与野生桑白皮的区别</a:t>
            </a:r>
            <a:endParaRPr lang="zh-CN" altLang="en-US"/>
          </a:p>
          <a:p>
            <a:r>
              <a:rPr lang="zh-CN" altLang="en-US"/>
              <a:t>十、桑白皮产生真菌毒素的原因及质量分析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06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一、桑白皮的来源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06805"/>
            <a:ext cx="10515600" cy="3316605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zh-CN" altLang="en-US" b="1"/>
              <a:t>本品为桑科植物桑</a:t>
            </a:r>
            <a:r>
              <a:rPr lang="en-US" altLang="zh-CN" b="1" i="1"/>
              <a:t>Morus alba</a:t>
            </a:r>
            <a:r>
              <a:rPr lang="en-US" altLang="zh-CN" b="1"/>
              <a:t> L.</a:t>
            </a:r>
            <a:r>
              <a:rPr lang="zh-CN" altLang="en-US" b="1"/>
              <a:t>的干燥根皮。秋末叶落时至次春发芽前采挖根部，刮去黄棕色粗皮，纵向剖开，剥取根皮，晒干</a:t>
            </a:r>
            <a:r>
              <a:rPr lang="zh-CN" altLang="en-US"/>
              <a:t>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）基原</a:t>
            </a:r>
            <a:r>
              <a:rPr lang="zh-CN" altLang="en-US"/>
              <a:t>：桑科、桑属、桑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）采收</a:t>
            </a:r>
            <a:r>
              <a:rPr lang="zh-CN" altLang="en-US"/>
              <a:t>：秋末叶落时、初春发芽前，采挖根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）加工</a:t>
            </a:r>
            <a:r>
              <a:rPr lang="zh-CN" altLang="en-US"/>
              <a:t>：</a:t>
            </a:r>
            <a:r>
              <a:rPr lang="zh-CN" altLang="en-US">
                <a:sym typeface="+mn-ea"/>
              </a:rPr>
              <a:t>刮去黄棕色粗皮，纵向剖开，剥取根皮，晒干。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4</a:t>
            </a:r>
            <a:r>
              <a:rPr lang="zh-CN" altLang="en-US" b="1">
                <a:sym typeface="+mn-ea"/>
              </a:rPr>
              <a:t>）入药部位</a:t>
            </a:r>
            <a:r>
              <a:rPr lang="zh-CN" altLang="en-US">
                <a:sym typeface="+mn-ea"/>
              </a:rPr>
              <a:t>：刮去粗皮的根皮</a:t>
            </a:r>
            <a:endParaRPr lang="zh-CN" altLang="en-US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52475" y="4423410"/>
            <a:ext cx="11168380" cy="22453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p>
            <a:pPr indent="0" fontAlgn="auto">
              <a:lnSpc>
                <a:spcPts val="3360"/>
              </a:lnSpc>
            </a:pPr>
            <a:r>
              <a:rPr lang="zh-CN" altLang="en-US" sz="2800" b="1"/>
              <a:t>问题</a:t>
            </a:r>
            <a:r>
              <a:rPr lang="en-US" altLang="zh-CN" sz="2800" b="1"/>
              <a:t>1 </a:t>
            </a:r>
            <a:r>
              <a:rPr lang="zh-CN" altLang="en-US" sz="2800"/>
              <a:t>桑白皮如有伪品，可能的伪品会是什么？性状能区分吗？如不能，如何精准鉴别？</a:t>
            </a:r>
            <a:endParaRPr lang="zh-CN" altLang="en-US" sz="2800"/>
          </a:p>
          <a:p>
            <a:pPr indent="0" fontAlgn="auto">
              <a:lnSpc>
                <a:spcPts val="3360"/>
              </a:lnSpc>
            </a:pPr>
            <a:r>
              <a:rPr lang="zh-CN" altLang="en-US" sz="2800" b="1"/>
              <a:t>问题</a:t>
            </a:r>
            <a:r>
              <a:rPr lang="en-US" altLang="zh-CN" sz="2800" b="1"/>
              <a:t>2 </a:t>
            </a:r>
            <a:r>
              <a:rPr lang="zh-CN" altLang="en-US" sz="2800"/>
              <a:t>桑白皮黄曲霉素超标，为什么？如何解决？</a:t>
            </a:r>
            <a:endParaRPr lang="zh-CN" altLang="en-US" sz="2800"/>
          </a:p>
          <a:p>
            <a:pPr indent="0" fontAlgn="auto">
              <a:lnSpc>
                <a:spcPts val="3360"/>
              </a:lnSpc>
            </a:pPr>
            <a:r>
              <a:rPr lang="zh-CN" altLang="en-US" sz="2800" b="1"/>
              <a:t>问题</a:t>
            </a:r>
            <a:r>
              <a:rPr lang="en-US" altLang="zh-CN" sz="2800" b="1"/>
              <a:t>3</a:t>
            </a:r>
            <a:r>
              <a:rPr lang="en-US" altLang="zh-CN" sz="2800"/>
              <a:t> </a:t>
            </a:r>
            <a:r>
              <a:rPr lang="zh-CN" altLang="en-US" sz="2800"/>
              <a:t>药典没有指标情况下，如何用性状保证质量？</a:t>
            </a:r>
            <a:endParaRPr lang="zh-CN" altLang="en-US" sz="2800"/>
          </a:p>
          <a:p>
            <a:pPr indent="0" fontAlgn="auto">
              <a:lnSpc>
                <a:spcPts val="3360"/>
              </a:lnSpc>
            </a:pPr>
            <a:r>
              <a:rPr lang="en-US" altLang="zh-CN" sz="2800" b="1"/>
              <a:t> 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0979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一、唐代之前</a:t>
            </a:r>
            <a:endParaRPr lang="zh-CN" altLang="en-US" b="1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首载于</a:t>
            </a:r>
            <a:r>
              <a:rPr lang="zh-CN" altLang="en-US" b="1"/>
              <a:t>《神农本草经》：</a:t>
            </a:r>
            <a:r>
              <a:rPr lang="en-US" altLang="zh-CN"/>
              <a:t>“</a:t>
            </a:r>
            <a:r>
              <a:rPr lang="zh-CN" altLang="en-US" b="1"/>
              <a:t>桑根白皮</a:t>
            </a:r>
            <a:r>
              <a:rPr lang="zh-CN" altLang="en-US"/>
              <a:t>，味甘，寒。主伤中，五劳六极，羸瘦，崩中脉绝，补虚益气。</a:t>
            </a:r>
            <a:r>
              <a:rPr lang="zh-CN" altLang="en-US" b="1"/>
              <a:t>叶</a:t>
            </a:r>
            <a:r>
              <a:rPr lang="zh-CN" altLang="en-US"/>
              <a:t>，除寒热，出汗。</a:t>
            </a:r>
            <a:r>
              <a:rPr lang="zh-CN" altLang="en-US" b="1"/>
              <a:t>桑耳</a:t>
            </a:r>
            <a:r>
              <a:rPr lang="zh-CN" altLang="en-US"/>
              <a:t>，黑者主女子漏下、血病癥瘕积聚。</a:t>
            </a:r>
            <a:r>
              <a:rPr lang="en-US" altLang="zh-CN"/>
              <a:t>”</a:t>
            </a:r>
            <a:endParaRPr lang="en-US" altLang="zh-CN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 b="1"/>
              <a:t>《名医别录》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桑根白皮，无毒。采无时，</a:t>
            </a:r>
            <a:r>
              <a:rPr lang="zh-CN" altLang="en-US" b="1">
                <a:solidFill>
                  <a:srgbClr val="FF0000"/>
                </a:solidFill>
              </a:rPr>
              <a:t>出土者杀人</a:t>
            </a:r>
            <a:r>
              <a:rPr lang="zh-CN" altLang="en-US"/>
              <a:t>。白皮，刮去上黄皮，取白皮用。</a:t>
            </a:r>
            <a:r>
              <a:rPr lang="en-US" altLang="zh-CN"/>
              <a:t>”</a:t>
            </a:r>
            <a:endParaRPr lang="en-US" altLang="zh-CN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 b="1"/>
              <a:t>《雷公炮炙论》</a:t>
            </a:r>
            <a:r>
              <a:rPr lang="zh-CN" altLang="en-US"/>
              <a:t>：凡使，</a:t>
            </a:r>
            <a:r>
              <a:rPr lang="zh-CN" altLang="en-US" b="1">
                <a:solidFill>
                  <a:srgbClr val="FF0000"/>
                </a:solidFill>
              </a:rPr>
              <a:t>采十年已上</a:t>
            </a:r>
            <a:r>
              <a:rPr lang="zh-CN" altLang="en-US"/>
              <a:t>向东畔根，</a:t>
            </a:r>
            <a:r>
              <a:rPr lang="zh-CN" altLang="en-US" b="1">
                <a:solidFill>
                  <a:srgbClr val="FF0000"/>
                </a:solidFill>
              </a:rPr>
              <a:t>刮去粗皮</a:t>
            </a:r>
            <a:r>
              <a:rPr lang="zh-CN" altLang="en-US"/>
              <a:t>，剥白皮，细锉，拌糯米泔浸一宿，漉出，焙干用。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816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3360" y="1170305"/>
            <a:ext cx="11671935" cy="536511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二、唐宋时代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《新修本草》</a:t>
            </a:r>
            <a:r>
              <a:rPr lang="zh-CN" altLang="en-US">
                <a:sym typeface="+mn-ea"/>
              </a:rPr>
              <a:t>：桑处处有，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白桑</a:t>
            </a:r>
            <a:r>
              <a:rPr lang="zh-CN" altLang="en-US">
                <a:sym typeface="+mn-ea"/>
              </a:rPr>
              <a:t>皮厚，入药最佳；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山桑</a:t>
            </a:r>
            <a:r>
              <a:rPr lang="zh-CN" altLang="en-US">
                <a:sym typeface="+mn-ea"/>
              </a:rPr>
              <a:t>皮薄，功力劣。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《本草拾遗》</a:t>
            </a:r>
            <a:r>
              <a:rPr lang="en-US" altLang="zh-CN"/>
              <a:t>:</a:t>
            </a:r>
            <a:r>
              <a:rPr lang="zh-CN" altLang="en-US"/>
              <a:t>桑叶项下记载：“</a:t>
            </a:r>
            <a:r>
              <a:rPr lang="zh-CN" altLang="en-US" b="1"/>
              <a:t>叶桠者名鸡桑，最堪入用</a:t>
            </a:r>
            <a:r>
              <a:rPr lang="zh-CN" altLang="en-US"/>
              <a:t>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《本草图经》</a:t>
            </a:r>
            <a:r>
              <a:rPr lang="zh-CN" altLang="en-US"/>
              <a:t>：桑根白皮，</a:t>
            </a:r>
            <a:r>
              <a:rPr lang="en-US" altLang="zh-CN"/>
              <a:t>“</a:t>
            </a:r>
            <a:r>
              <a:rPr lang="zh-CN" altLang="en-US"/>
              <a:t>《本经》不着所出州土，今处处有之。采无时。不可用出土上者，用东行根益佳。</a:t>
            </a:r>
            <a:r>
              <a:rPr lang="zh-CN" altLang="en-US" b="1"/>
              <a:t>或云木白皮亦可用</a:t>
            </a:r>
            <a:r>
              <a:rPr lang="zh-CN" altLang="en-US"/>
              <a:t>。初采得，以铜刀剥去上粗皮，取其里白，切焙干。其皮中青涎，勿使刮去，药力都在其上。恶铁及铅，不可近之</a:t>
            </a:r>
            <a:r>
              <a:rPr lang="en-US" altLang="zh-CN"/>
              <a:t>”“</a:t>
            </a:r>
            <a:r>
              <a:rPr lang="zh-CN" altLang="en-US" b="1"/>
              <a:t>木高一二丈，春生叶，至夏结实，生青绿，熟紫黑，根皮黄白色如虎斑，其叶可以饲蚕</a:t>
            </a:r>
            <a:r>
              <a:rPr lang="en-US" altLang="zh-CN"/>
              <a:t>”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92705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zh-CN" altLang="en-US" b="1"/>
              <a:t>三、明清时期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《救荒本草》</a:t>
            </a:r>
            <a:r>
              <a:rPr lang="zh-CN" altLang="en-US"/>
              <a:t>：</a:t>
            </a:r>
            <a:r>
              <a:rPr lang="en-US" altLang="zh-CN"/>
              <a:t>“</a:t>
            </a:r>
            <a:r>
              <a:rPr lang="zh-CN" altLang="en-US"/>
              <a:t>桑椹树，本草有桑根白皮。旧不载所出州土，今处处有之。其叶饲蚕，</a:t>
            </a:r>
            <a:r>
              <a:rPr lang="zh-CN" altLang="en-US" b="1"/>
              <a:t>结实为桑椹，有黑白二种</a:t>
            </a:r>
            <a:r>
              <a:rPr lang="zh-CN" altLang="en-US"/>
              <a:t>，桑之精英尽在于椹。桑根白皮东行根益佳，肥白者良，出土者不可用，杀人。味甘，性寒，无毒。制造忌铁器及铅。</a:t>
            </a:r>
            <a:r>
              <a:rPr lang="zh-CN" altLang="en-US" b="1"/>
              <a:t>叶桠者名鸡桑，最堪入药</a:t>
            </a:r>
            <a:r>
              <a:rPr lang="en-US" altLang="zh-CN"/>
              <a:t>”</a:t>
            </a:r>
            <a:endParaRPr lang="en-US" altLang="zh-CN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50875" y="4552950"/>
            <a:ext cx="11058525" cy="521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pPr fontAlgn="auto">
              <a:lnSpc>
                <a:spcPts val="3360"/>
              </a:lnSpc>
            </a:pPr>
            <a:r>
              <a:rPr lang="zh-CN" altLang="en-US" sz="2800">
                <a:sym typeface="+mn-ea"/>
              </a:rPr>
              <a:t>《中国植物志》可结白色果实的桑树，如</a:t>
            </a:r>
            <a:r>
              <a:rPr lang="zh-CN" altLang="en-US" sz="2800" b="1">
                <a:sym typeface="+mn-ea"/>
              </a:rPr>
              <a:t>鲁桑</a:t>
            </a:r>
            <a:r>
              <a:rPr lang="zh-CN" altLang="en-US" sz="2800">
                <a:sym typeface="+mn-ea"/>
              </a:rPr>
              <a:t>、</a:t>
            </a:r>
            <a:r>
              <a:rPr lang="zh-CN" altLang="en-US" sz="2800" b="1">
                <a:sym typeface="+mn-ea"/>
              </a:rPr>
              <a:t>华桑</a:t>
            </a:r>
            <a:r>
              <a:rPr lang="zh-CN" altLang="en-US" sz="2800">
                <a:sym typeface="+mn-ea"/>
              </a:rPr>
              <a:t>、</a:t>
            </a:r>
            <a:r>
              <a:rPr lang="zh-CN" altLang="en-US" sz="2800" b="1">
                <a:sym typeface="+mn-ea"/>
              </a:rPr>
              <a:t>奶桑</a:t>
            </a:r>
            <a:r>
              <a:rPr lang="zh-CN" altLang="en-US" sz="2800">
                <a:sym typeface="+mn-ea"/>
              </a:rPr>
              <a:t>、</a:t>
            </a:r>
            <a:r>
              <a:rPr lang="zh-CN" altLang="en-US" sz="2800" b="1">
                <a:sym typeface="+mn-ea"/>
              </a:rPr>
              <a:t>川桑</a:t>
            </a:r>
            <a:r>
              <a:rPr lang="zh-CN" altLang="en-US" sz="2800">
                <a:sym typeface="+mn-ea"/>
              </a:rPr>
              <a:t>。</a:t>
            </a:r>
            <a:endParaRPr lang="en-US" altLang="zh-CN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ts val="3360"/>
              </a:lnSpc>
            </a:pPr>
            <a:r>
              <a:rPr lang="zh-CN" altLang="en-US" b="1"/>
              <a:t>《本草蒙筌》</a:t>
            </a:r>
            <a:r>
              <a:rPr lang="zh-CN" altLang="en-US"/>
              <a:t>：</a:t>
            </a:r>
            <a:r>
              <a:rPr lang="zh-CN" altLang="en-US" b="1"/>
              <a:t>桑根白皮</a:t>
            </a:r>
            <a:r>
              <a:rPr lang="zh-CN" altLang="en-US"/>
              <a:t>“山谷出少，家园植多。</a:t>
            </a:r>
            <a:r>
              <a:rPr lang="zh-CN" altLang="en-US" b="1"/>
              <a:t>山桑</a:t>
            </a:r>
            <a:r>
              <a:rPr lang="zh-CN" altLang="en-US"/>
              <a:t>质坚，木堪作檐。</a:t>
            </a:r>
            <a:r>
              <a:rPr lang="zh-CN" altLang="en-US" b="1"/>
              <a:t>家桑</a:t>
            </a:r>
            <a:r>
              <a:rPr lang="zh-CN" altLang="en-US"/>
              <a:t>气浓，叶可饲蚕。</a:t>
            </a:r>
            <a:r>
              <a:rPr lang="zh-CN" altLang="en-US" b="1"/>
              <a:t>凡入剂中，须觅家者</a:t>
            </a:r>
            <a:r>
              <a:rPr lang="zh-CN" altLang="en-US"/>
              <a:t>。近冬收采，如式制精。根出土外者杀人，根向东行者得气。</a:t>
            </a:r>
            <a:r>
              <a:rPr lang="zh-CN" altLang="en-US" b="1"/>
              <a:t>皮取近木洗净</a:t>
            </a:r>
            <a:r>
              <a:rPr lang="zh-CN" altLang="en-US"/>
              <a:t>，</a:t>
            </a:r>
            <a:r>
              <a:rPr lang="zh-CN" altLang="en-US" b="1"/>
              <a:t>留白</a:t>
            </a:r>
            <a:r>
              <a:rPr lang="zh-CN" altLang="en-US"/>
              <a:t>去青片用，铜刀咀成，恶铅忌铁。稀蜜拌透，文火炒干。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47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995" y="1151255"/>
            <a:ext cx="10885805" cy="558101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《本草纲目》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【释名】</a:t>
            </a:r>
            <a:r>
              <a:rPr lang="zh-CN" altLang="en-US"/>
              <a:t>桑有数种：</a:t>
            </a:r>
            <a:r>
              <a:rPr lang="zh-CN" altLang="en-US" b="1">
                <a:solidFill>
                  <a:srgbClr val="FF0000"/>
                </a:solidFill>
              </a:rPr>
              <a:t>白桑</a:t>
            </a:r>
            <a:r>
              <a:rPr lang="zh-CN" altLang="en-US" b="1"/>
              <a:t>，叶大如掌而厚；</a:t>
            </a:r>
            <a:r>
              <a:rPr lang="zh-CN" altLang="en-US" b="1">
                <a:solidFill>
                  <a:srgbClr val="FF0000"/>
                </a:solidFill>
              </a:rPr>
              <a:t>鸡桑</a:t>
            </a:r>
            <a:r>
              <a:rPr lang="zh-CN" altLang="en-US" b="1"/>
              <a:t>，叶花而薄；</a:t>
            </a:r>
            <a:r>
              <a:rPr lang="zh-CN" altLang="en-US" b="1">
                <a:solidFill>
                  <a:srgbClr val="FF0000"/>
                </a:solidFill>
              </a:rPr>
              <a:t>子桑</a:t>
            </a:r>
            <a:r>
              <a:rPr lang="zh-CN" altLang="en-US" b="1"/>
              <a:t>，先椹而后叶；</a:t>
            </a:r>
            <a:r>
              <a:rPr lang="zh-CN" altLang="en-US" b="1">
                <a:solidFill>
                  <a:srgbClr val="FF0000"/>
                </a:solidFill>
              </a:rPr>
              <a:t>山桑</a:t>
            </a:r>
            <a:r>
              <a:rPr lang="zh-CN" altLang="en-US" b="1"/>
              <a:t>，叶尖而长</a:t>
            </a:r>
            <a:r>
              <a:rPr lang="zh-CN" altLang="en-US"/>
              <a:t>。以子种者，不若压条而分者。桑生黄衣，谓之金桑，其木必将槁矣</a:t>
            </a:r>
            <a:r>
              <a:rPr lang="en-US" altLang="zh-CN"/>
              <a:t>”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【集解】</a:t>
            </a:r>
            <a:r>
              <a:rPr lang="en-US" altLang="zh-CN"/>
              <a:t>“</a:t>
            </a:r>
            <a:r>
              <a:rPr lang="zh-CN" altLang="en-US"/>
              <a:t>桑处处园圃多种，</a:t>
            </a:r>
            <a:r>
              <a:rPr lang="zh-CN" altLang="en-US" b="1"/>
              <a:t>山桑</a:t>
            </a:r>
            <a:r>
              <a:rPr lang="zh-CN" altLang="en-US"/>
              <a:t>野生质坚，止可作材，不堪入药。</a:t>
            </a:r>
            <a:r>
              <a:rPr lang="zh-CN" altLang="en-US" b="1"/>
              <a:t>白桑</a:t>
            </a:r>
            <a:r>
              <a:rPr lang="zh-CN" altLang="en-US"/>
              <a:t>人工栽植，叶饲蚕，根皮药力浓厚，</a:t>
            </a:r>
            <a:r>
              <a:rPr lang="zh-CN" altLang="en-US" b="1"/>
              <a:t>入药宜择十年以上</a:t>
            </a:r>
            <a:r>
              <a:rPr lang="zh-CN" altLang="en-US"/>
              <a:t>东向嫩根</a:t>
            </a:r>
            <a:r>
              <a:rPr lang="en-US" altLang="zh-CN"/>
              <a:t>”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 b="1"/>
              <a:t>【修治】</a:t>
            </a:r>
            <a:r>
              <a:rPr lang="en-US" altLang="zh-CN"/>
              <a:t>“</a:t>
            </a:r>
            <a:r>
              <a:rPr lang="zh-CN" altLang="en-US"/>
              <a:t>斅曰∶凡使，采十年以上向东畔嫩根，铜刀刮去青黄薄皮一重，取里白皮切，焙干用。其皮中涎勿去之，药力俱在其上也。忌铁及铅。</a:t>
            </a:r>
            <a:r>
              <a:rPr lang="zh-CN" altLang="en-US" b="1"/>
              <a:t>或云∶木之白皮亦可用。</a:t>
            </a:r>
            <a:r>
              <a:rPr lang="zh-CN" altLang="en-US"/>
              <a:t>煮汁染褐色，久不落，</a:t>
            </a:r>
            <a:r>
              <a:rPr lang="zh-CN" altLang="en-US"/>
              <a:t>”</a:t>
            </a:r>
            <a:endParaRPr lang="zh-CN" altLang="en-US"/>
          </a:p>
          <a:p>
            <a:pPr fontAlgn="auto">
              <a:lnSpc>
                <a:spcPts val="3360"/>
              </a:lnSpc>
            </a:pP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76555" y="1825625"/>
            <a:ext cx="11419840" cy="4351655"/>
          </a:xfrm>
        </p:spPr>
        <p:txBody>
          <a:bodyPr/>
          <a:p>
            <a:pPr>
              <a:buFont typeface="Wingdings" panose="05000000000000000000" charset="0"/>
              <a:buChar char="n"/>
            </a:pPr>
            <a:r>
              <a:rPr lang="zh-CN" altLang="en-US" b="1"/>
              <a:t>《中药志》《中药大辞典》《全国中草药汇编》：</a:t>
            </a:r>
            <a:r>
              <a:rPr lang="zh-CN" altLang="en-US">
                <a:sym typeface="+mn-ea"/>
              </a:rPr>
              <a:t>桑白皮基原为</a:t>
            </a:r>
            <a:r>
              <a:rPr lang="zh-CN" altLang="en-US"/>
              <a:t>桑 </a:t>
            </a: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Morus alba L.</a:t>
            </a:r>
            <a:endParaRPr lang="zh-CN" altLang="en-US"/>
          </a:p>
          <a:p>
            <a:pPr>
              <a:buFont typeface="Wingdings" panose="05000000000000000000" charset="0"/>
              <a:buChar char="n"/>
            </a:pPr>
            <a:r>
              <a:rPr lang="zh-CN" altLang="en-US" b="1"/>
              <a:t>自 1963 版起历版《中国药典》：</a:t>
            </a:r>
            <a:r>
              <a:rPr lang="zh-CN" altLang="en-US"/>
              <a:t>桑白皮基原为桑 Morus alba L.，没有变化</a:t>
            </a:r>
            <a:endParaRPr lang="zh-CN" altLang="en-US"/>
          </a:p>
          <a:p>
            <a:pPr>
              <a:buFont typeface="Wingdings" panose="05000000000000000000" charset="0"/>
              <a:buChar char="n"/>
            </a:pP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n"/>
            </a:pPr>
            <a:r>
              <a:rPr lang="zh-CN" altLang="en-US" b="1">
                <a:solidFill>
                  <a:srgbClr val="FF0000"/>
                </a:solidFill>
              </a:rPr>
              <a:t>小结：</a:t>
            </a:r>
            <a:r>
              <a:rPr lang="zh-CN" altLang="en-US"/>
              <a:t>从本草植物形态描述、历史地理、附图推测，曾经作为桑白皮的原植物有鸡桑、蒙桑、华桑，但随着养蚕产业的兴起，原植物聚焦于白桑，是蚕桑的副产品。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ts val="3360"/>
              </a:lnSpc>
            </a:pPr>
            <a:r>
              <a:rPr lang="zh-CN" altLang="en-US" b="1"/>
              <a:t>国家农作物审定（蚕桑叶用桑）</a:t>
            </a:r>
            <a:r>
              <a:rPr lang="zh-CN" altLang="en-US"/>
              <a:t>：累计</a:t>
            </a:r>
            <a:r>
              <a:rPr lang="zh-CN" altLang="en-US" b="1">
                <a:solidFill>
                  <a:srgbClr val="FF0000"/>
                </a:solidFill>
              </a:rPr>
              <a:t>47 个</a:t>
            </a:r>
            <a:r>
              <a:rPr lang="zh-CN" altLang="en-US"/>
              <a:t>，如陕桑 305（国审蚕桑 2001002）、农桑 14 号、强桑 1 号、桂桑优 12、粤桑 11 号等。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国家林木良种审定（果桑、饲料桑、兼用桑）</a:t>
            </a:r>
            <a:r>
              <a:rPr lang="zh-CN" altLang="en-US"/>
              <a:t>：累计约 </a:t>
            </a:r>
            <a:r>
              <a:rPr lang="zh-CN" altLang="en-US" b="1">
                <a:solidFill>
                  <a:srgbClr val="FF0000"/>
                </a:solidFill>
              </a:rPr>
              <a:t>32 个</a:t>
            </a:r>
            <a:r>
              <a:rPr lang="zh-CN" altLang="en-US"/>
              <a:t>，如粤椹大 10、粤椹 74、强桑 3/5 号、皖叶 5/7 号、丰源 1 号、桑梓 1 号等。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国家授权植物新品种权（知识产权登记）</a:t>
            </a:r>
            <a:r>
              <a:rPr lang="zh-CN" altLang="en-US"/>
              <a:t>：累计89 个，具备新品种权登记证书号，覆盖叶用、果桑、饲料、药用专用桑品种。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ts val="3360"/>
              </a:lnSpc>
            </a:pPr>
            <a:r>
              <a:rPr lang="zh-CN" altLang="en-US" b="1"/>
              <a:t>省级品种</a:t>
            </a:r>
            <a:r>
              <a:rPr lang="zh-CN" altLang="en-US"/>
              <a:t>：全国蚕桑主产省（广西、广东、浙江、四川、山东、陕西、江苏、重庆、云南等）均设立</a:t>
            </a:r>
            <a:r>
              <a:rPr lang="zh-CN" altLang="en-US" b="1">
                <a:solidFill>
                  <a:srgbClr val="FF0000"/>
                </a:solidFill>
              </a:rPr>
              <a:t>省级桑品种</a:t>
            </a:r>
            <a:r>
              <a:rPr lang="zh-CN" altLang="en-US"/>
              <a:t>审定，</a:t>
            </a:r>
            <a:r>
              <a:rPr lang="zh-CN" altLang="en-US" b="1"/>
              <a:t>每省 10～35 个不等</a:t>
            </a:r>
            <a:r>
              <a:rPr lang="zh-CN" altLang="en-US"/>
              <a:t>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广东</a:t>
            </a:r>
            <a:r>
              <a:rPr lang="zh-CN" altLang="en-US"/>
              <a:t>：粤审桑系列 15 个以上（粤椹 74、粤桑 110/119/120 等）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广西</a:t>
            </a:r>
            <a:r>
              <a:rPr lang="zh-CN" altLang="en-US"/>
              <a:t>：桂桑优系列、特优系列 20 余个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浙江</a:t>
            </a:r>
            <a:r>
              <a:rPr lang="zh-CN" altLang="en-US"/>
              <a:t>：强桑系列、农桑系列省级审定品种 12 个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陕西、山东、四川、江苏：</a:t>
            </a:r>
            <a:r>
              <a:rPr lang="zh-CN" altLang="en-US"/>
              <a:t>合计超 80 个省级带编号品种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全部省级带正规登记批号桑品种总量约</a:t>
            </a:r>
            <a:r>
              <a:rPr lang="zh-CN" altLang="en-US" b="1">
                <a:solidFill>
                  <a:srgbClr val="FF0000"/>
                </a:solidFill>
              </a:rPr>
              <a:t> 160～190 个</a:t>
            </a:r>
            <a:r>
              <a:rPr lang="zh-CN" altLang="en-US" b="1"/>
              <a:t>。</a:t>
            </a:r>
            <a:endParaRPr lang="zh-CN" altLang="en-US" b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80820"/>
            <a:ext cx="10515600" cy="4351338"/>
          </a:xfrm>
        </p:spPr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）菜桑（嫩芽）</a:t>
            </a:r>
            <a:r>
              <a:rPr lang="zh-CN" altLang="en-US"/>
              <a:t>：</a:t>
            </a:r>
            <a:r>
              <a:rPr lang="zh-CN" altLang="en-US" b="1"/>
              <a:t>粤菜桑 1 号、粤菜桑 2 号</a:t>
            </a:r>
            <a:r>
              <a:rPr lang="zh-CN" altLang="en-US"/>
              <a:t>，多由白桑 / 广东桑选育而来。嫩叶作蔬菜，纤维细、苦涩味极低，可清炒、煮汤、做馅、凉拌。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）茶桑（桑叶茶）</a:t>
            </a:r>
            <a:r>
              <a:rPr lang="zh-CN" altLang="en-US"/>
              <a:t>：</a:t>
            </a:r>
            <a:r>
              <a:rPr lang="zh-CN" altLang="en-US" b="1"/>
              <a:t>粤茶桑 1 号、粤茶桑 10 号</a:t>
            </a:r>
            <a:r>
              <a:rPr lang="zh-CN" altLang="en-US"/>
              <a:t>，基原以桑选育为主。叶片薄、香气足、多酚与 </a:t>
            </a:r>
            <a:r>
              <a:rPr lang="en-US" altLang="zh-CN"/>
              <a:t>DNJ（</a:t>
            </a:r>
            <a:r>
              <a:rPr lang="zh-CN" altLang="en-US"/>
              <a:t>脱氧野尻霉素）含量高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 生态桑</a:t>
            </a:r>
            <a:r>
              <a:rPr lang="zh-CN" altLang="en-US"/>
              <a:t>：耐贫瘠、耐盐碱、抗重金属、固土护坡，用于石漠化、矿山修复、边坡绿化、水土保持。速生、根系发达、可富集土壤铅 / 镉；多选用</a:t>
            </a:r>
            <a:r>
              <a:rPr lang="zh-CN" altLang="en-US" b="1"/>
              <a:t>广东桑、杂交饲料桑、蒙桑</a:t>
            </a:r>
            <a:r>
              <a:rPr lang="zh-CN" altLang="en-US"/>
              <a:t>耐逆种质。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4</a:t>
            </a:r>
            <a:r>
              <a:rPr lang="zh-CN" altLang="en-US" b="1">
                <a:sym typeface="+mn-ea"/>
              </a:rPr>
              <a:t>）工业纤维桑</a:t>
            </a:r>
            <a:r>
              <a:rPr lang="zh-CN" altLang="en-US">
                <a:sym typeface="+mn-ea"/>
              </a:rPr>
              <a:t>：纤维柔韧，古法织布、造纸、绳索、人造棉；传统宣纸、皮纸重要原料</a:t>
            </a:r>
            <a:endParaRPr lang="zh-CN" altLang="en-US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74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二、桑白皮品种的变异情况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2750" y="1170305"/>
            <a:ext cx="10941050" cy="554990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5</a:t>
            </a:r>
            <a:r>
              <a:rPr lang="zh-CN" altLang="en-US" b="1"/>
              <a:t>）观赏桑</a:t>
            </a:r>
            <a:r>
              <a:rPr lang="zh-CN" altLang="en-US"/>
              <a:t>：垂枝桑，园林垂枝造景；长果桑观果采摘两用；花叶桑彩叶观叶品种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6</a:t>
            </a:r>
            <a:r>
              <a:rPr lang="zh-CN" altLang="en-US" b="1"/>
              <a:t>）蚕桑</a:t>
            </a:r>
            <a:r>
              <a:rPr lang="zh-CN" altLang="en-US"/>
              <a:t>：湖桑 32 号、育 71-1、桐乡青、荷叶白；白桑原生品系，山桑，叶大肉厚、产叶量高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7</a:t>
            </a:r>
            <a:r>
              <a:rPr lang="zh-CN" altLang="en-US" b="1"/>
              <a:t>）饲料桑（蛋白桑）</a:t>
            </a:r>
            <a:r>
              <a:rPr lang="zh-CN" altLang="en-US"/>
              <a:t>：蛋白桑 1 号 / 2 号 均为白桑多倍体杂交系；广东桑二倍体 × 四倍体杂交（三倍体为主）；粤桑 51 号；桂桑优 12、桂桑 6 号；冀桑 / 北京桑品系；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8</a:t>
            </a:r>
            <a:r>
              <a:rPr lang="zh-CN" altLang="en-US" b="1"/>
              <a:t>）蚕桑分类</a:t>
            </a:r>
            <a:r>
              <a:rPr lang="zh-CN" altLang="en-US"/>
              <a:t>：北方</a:t>
            </a:r>
            <a:r>
              <a:rPr lang="zh-CN" altLang="en-US">
                <a:sym typeface="+mn-ea"/>
              </a:rPr>
              <a:t>白桑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江浙</a:t>
            </a:r>
            <a:r>
              <a:rPr lang="zh-CN" altLang="en-US"/>
              <a:t>鲁桑（湖桑）、广东桑（华南）、瑞穗桑（日本，三倍体）、山桑五大栽培类群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三、桑白皮的产地分布及历史变迁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5125" y="1825625"/>
            <a:ext cx="11503025" cy="389572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《神农本草经》</a:t>
            </a:r>
            <a:r>
              <a:rPr lang="en-US" altLang="zh-CN"/>
              <a:t>“</a:t>
            </a:r>
            <a:r>
              <a:rPr lang="zh-CN" altLang="en-US"/>
              <a:t>生山谷</a:t>
            </a:r>
            <a:r>
              <a:rPr lang="en-US" altLang="zh-CN"/>
              <a:t>”</a:t>
            </a:r>
            <a:r>
              <a:rPr lang="zh-CN" altLang="en-US"/>
              <a:t>，东汉蚕桑虽有，但药用仍以野生为主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《本草经集注》《新修本草》</a:t>
            </a:r>
            <a:r>
              <a:rPr lang="en-US" altLang="zh-CN"/>
              <a:t>“</a:t>
            </a:r>
            <a:r>
              <a:rPr lang="zh-CN" altLang="en-US"/>
              <a:t>生</a:t>
            </a:r>
            <a:r>
              <a:rPr lang="zh-CN" altLang="en-US" b="1"/>
              <a:t>犍为山谷</a:t>
            </a:r>
            <a:r>
              <a:rPr lang="en-US" altLang="zh-CN"/>
              <a:t>”</a:t>
            </a:r>
            <a:r>
              <a:rPr lang="zh-CN" altLang="en-US"/>
              <a:t>，今四川乐山、宜宾、内江，及云贵北部（汉武帝置犍为郡），魏晋南北朝蜀地蚕桑发达，川南山谷野生、家种桑树资源集中，是当时药材流通核心来源。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《本草图经》《救荒本草》</a:t>
            </a:r>
            <a:r>
              <a:rPr lang="en-US" altLang="zh-CN"/>
              <a:t>“</a:t>
            </a:r>
            <a:r>
              <a:rPr lang="zh-CN" altLang="en-US"/>
              <a:t>今处处有之</a:t>
            </a:r>
            <a:r>
              <a:rPr lang="en-US" altLang="zh-CN"/>
              <a:t>”“</a:t>
            </a:r>
            <a:r>
              <a:rPr lang="zh-CN" altLang="en-US"/>
              <a:t>其叶可以饲蚕</a:t>
            </a:r>
            <a:r>
              <a:rPr lang="en-US" altLang="zh-CN"/>
              <a:t>”</a:t>
            </a:r>
            <a:r>
              <a:rPr lang="zh-CN" altLang="en-US"/>
              <a:t>，黄河中下游、江淮、江南、川蜀均大规模栽桑养蚕，产地扩大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《本草崇原》</a:t>
            </a:r>
            <a:r>
              <a:rPr lang="en-US" altLang="zh-CN"/>
              <a:t>“</a:t>
            </a:r>
            <a:r>
              <a:rPr lang="zh-CN" altLang="en-US"/>
              <a:t>桑处处有之，而江浙独盛</a:t>
            </a:r>
            <a:r>
              <a:rPr lang="en-US" altLang="zh-CN"/>
              <a:t>”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三、桑白皮的产地分布及历史变迁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1393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《光绪亳州志》</a:t>
            </a:r>
            <a:r>
              <a:rPr lang="zh-CN" altLang="en-US">
                <a:sym typeface="+mn-ea"/>
              </a:rPr>
              <a:t>安徽亳州、阜阳一带栽桑养蚕形成产业，本地桑白皮开始形成商品流通规格。</a:t>
            </a:r>
            <a:r>
              <a:rPr lang="zh-CN" altLang="en-US"/>
              <a:t>明清江南丝绸贸易繁荣（苏杭、湖州、嘉兴），桑树栽培规模远超川蜀，药用桑白皮自然以江浙产出最多；同时皖北平原人工桑园兴起，成为北方药材供应基地。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《中国药学大辞典》</a:t>
            </a:r>
            <a:r>
              <a:rPr lang="en-US" altLang="zh-CN"/>
              <a:t>“</a:t>
            </a:r>
            <a:r>
              <a:rPr lang="zh-CN" altLang="en-US"/>
              <a:t>凡养蚕区域恒有生焉。江浙产量最丰，川、豫、皖次之</a:t>
            </a:r>
            <a:r>
              <a:rPr lang="en-US" altLang="zh-CN"/>
              <a:t>”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 b="1"/>
              <a:t>《中药材商品规格等级 桑白皮》</a:t>
            </a:r>
            <a:r>
              <a:rPr lang="zh-CN" altLang="en-US"/>
              <a:t>明确现代主产区：安徽亳州、河南商丘、浙江桐乡 / 临安、江苏泰兴；分三大商品规格：亳桑皮（皖北、豫东）、严桑皮（浙江杭嘉湖）、北桑皮（江苏苏北）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832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三、桑白皮的产地分布及历史变迁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91260"/>
            <a:ext cx="10515600" cy="533400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小结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从野生趋于栽培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野生者目前较为肯定使用过的包括白桑、鸡桑、蒙桑，其他种都是基于形态的推测，从历史地理角度看，有些种不可能药用，如黑桑。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汉以后，桑白皮产地和蚕桑栽培基本一致，逐渐成为主流，野生桑白皮成为补充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蚕桑核心种植区主要供养蚕用，边缘区为蚕药两用，形成目前亳桑皮、严桑皮、北桑皮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产地变迁历史：古犍为</a:t>
            </a:r>
            <a:r>
              <a:rPr lang="en-US" altLang="zh-CN" b="1"/>
              <a:t>---</a:t>
            </a:r>
            <a:r>
              <a:rPr lang="zh-CN" altLang="en-US" b="1"/>
              <a:t>江浙</a:t>
            </a:r>
            <a:r>
              <a:rPr lang="en-US" altLang="zh-CN" b="1"/>
              <a:t>----</a:t>
            </a:r>
            <a:r>
              <a:rPr lang="zh-CN" altLang="en-US" b="1"/>
              <a:t>皖豫亳桑皮</a:t>
            </a:r>
            <a:endParaRPr lang="zh-CN" altLang="en-US" b="1"/>
          </a:p>
          <a:p>
            <a:endParaRPr lang="zh-CN" altLang="en-US" b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四、桑白皮的产地加工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>
                <a:sym typeface="+mn-ea"/>
              </a:rPr>
              <a:t>秋末叶落时至次春发芽前采挖根部，刮去黄棕色粗皮，纵向剖开，剥取根皮，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晒干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en-US" altLang="zh-CN"/>
              <a:t>1.</a:t>
            </a:r>
            <a:r>
              <a:rPr lang="zh-CN" altLang="en-US"/>
              <a:t>何时采收？为什么？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为何加工？为什么？</a:t>
            </a:r>
            <a:endParaRPr lang="zh-CN" altLang="en-US"/>
          </a:p>
          <a:p>
            <a:r>
              <a:rPr lang="zh-CN" altLang="en-US"/>
              <a:t>牡丹皮、地骨皮、白鲜皮、桑白皮、香加皮、五加皮、土荆皮（或近根树皮）、椿皮（或干皮）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四、桑白皮的产地加工：采收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9560"/>
            <a:ext cx="10515600" cy="1028065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根皮类药材</a:t>
            </a:r>
            <a:r>
              <a:rPr lang="zh-CN" altLang="en-US">
                <a:sym typeface="+mn-ea"/>
              </a:rPr>
              <a:t>：牡丹皮、地骨皮、白鲜皮、桑白皮、香加皮、五加皮、土荆皮（或近根树皮）、椿皮（或干皮）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024890" y="2701925"/>
          <a:ext cx="461137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5"/>
                <a:gridCol w="33166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名称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采收时间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牡丹皮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秋季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地骨皮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春初或秋后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白鲜皮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春、秋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桑白皮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秋末至次春发芽前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6174740" y="2752725"/>
          <a:ext cx="461137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4765"/>
                <a:gridCol w="331660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名称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采收时间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香加皮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春、秋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五加皮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夏、秋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土荆皮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夏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椿皮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全年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1024890" y="5508625"/>
            <a:ext cx="9761855" cy="9531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/>
              <a:t>和药材产地有关系吗？桑白皮采收时间有没有特殊？为什么？和黄曲霉素有关吗？</a:t>
            </a:r>
            <a:endParaRPr lang="zh-CN" altLang="en-US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四、桑白皮的产地加工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770" y="1087120"/>
            <a:ext cx="10908030" cy="537718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en-US" altLang="zh-CN" b="1"/>
              <a:t>1.</a:t>
            </a:r>
            <a:r>
              <a:rPr lang="zh-CN" altLang="en-US" b="1"/>
              <a:t>科学思维：</a:t>
            </a:r>
            <a:r>
              <a:rPr lang="zh-CN" altLang="en-US"/>
              <a:t>桑白皮含</a:t>
            </a:r>
            <a:r>
              <a:rPr lang="zh-CN" altLang="en-US">
                <a:sym typeface="+mn-ea"/>
              </a:rPr>
              <a:t>桑皮苷</a:t>
            </a:r>
            <a:r>
              <a:rPr lang="en-US" altLang="zh-CN">
                <a:sym typeface="+mn-ea"/>
              </a:rPr>
              <a:t>A</a:t>
            </a:r>
            <a:r>
              <a:rPr lang="zh-CN" altLang="en-US">
                <a:sym typeface="+mn-ea"/>
              </a:rPr>
              <a:t>、桑黄酮</a:t>
            </a:r>
            <a:r>
              <a:rPr lang="en-US" altLang="zh-CN">
                <a:sym typeface="+mn-ea"/>
              </a:rPr>
              <a:t>G</a:t>
            </a:r>
            <a:r>
              <a:rPr lang="zh-CN" altLang="en-US">
                <a:sym typeface="+mn-ea"/>
              </a:rPr>
              <a:t>等，粗皮、木心含量低，软根皮含量高。</a:t>
            </a:r>
            <a:r>
              <a:rPr lang="zh-CN" altLang="en-US" b="1">
                <a:sym typeface="+mn-ea"/>
              </a:rPr>
              <a:t>从木栓层、木质部显微构造思考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en-US" altLang="zh-CN" b="1">
                <a:sym typeface="+mn-ea"/>
              </a:rPr>
              <a:t>2.</a:t>
            </a:r>
            <a:r>
              <a:rPr lang="zh-CN" altLang="en-US" b="1">
                <a:sym typeface="+mn-ea"/>
              </a:rPr>
              <a:t>中医思维</a:t>
            </a:r>
            <a:endParaRPr lang="zh-CN" altLang="en-US" b="1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1</a:t>
            </a:r>
            <a:r>
              <a:rPr lang="zh-CN" b="1">
                <a:sym typeface="+mn-ea"/>
              </a:rPr>
              <a:t>）</a:t>
            </a:r>
            <a:r>
              <a:rPr lang="zh-CN" altLang="en-US" b="1">
                <a:sym typeface="+mn-ea"/>
              </a:rPr>
              <a:t>药材部位象义：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根皮</a:t>
            </a:r>
            <a:r>
              <a:rPr lang="zh-CN" altLang="en-US">
                <a:sym typeface="+mn-ea"/>
              </a:rPr>
              <a:t>对应人身之皮毛、肺（肺主皮毛）；树根深入地下，专主通利下焦水道。皮走表、走肺；根达下、通水。泻肺平喘、利水消肿，既治肺之喘咳，又治肌肤水肿、小便不利</a:t>
            </a:r>
            <a:r>
              <a:rPr lang="zh-CN" altLang="en-US" b="1">
                <a:sym typeface="+mn-ea"/>
              </a:rPr>
              <a:t>。</a:t>
            </a:r>
            <a:endParaRPr lang="zh-CN" altLang="en-US" b="1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b="1">
                <a:sym typeface="+mn-ea"/>
              </a:rPr>
              <a:t>）</a:t>
            </a:r>
            <a:r>
              <a:rPr lang="zh-CN" altLang="en-US" b="1">
                <a:sym typeface="+mn-ea"/>
              </a:rPr>
              <a:t>颜色象义：</a:t>
            </a:r>
            <a:r>
              <a:rPr lang="zh-CN" altLang="en-US">
                <a:sym typeface="+mn-ea"/>
              </a:rPr>
              <a:t>色白入肺，性寒清肃，桑白皮刮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去粗皮后白色或淡黄白色</a:t>
            </a:r>
            <a:r>
              <a:rPr lang="zh-CN" altLang="en-US">
                <a:sym typeface="+mn-ea"/>
              </a:rPr>
              <a:t>。中医五色对应五脏，白色入肺；白色属金，金气清肃寒凉。色白专走肺经，金气寒凉，能清肺热、泄肺中郁热。味甘，性寒，归肺经。治肺热喘咳（肺热壅盛、气逆咳喘，痰黄、胸满），针对肺有实热、肺气上逆之证。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864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四、桑白皮的产地加工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4050" y="1231900"/>
            <a:ext cx="10515600" cy="476313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3</a:t>
            </a:r>
            <a:r>
              <a:rPr lang="zh-CN" b="1">
                <a:sym typeface="+mn-ea"/>
              </a:rPr>
              <a:t>）</a:t>
            </a:r>
            <a:r>
              <a:rPr lang="zh-CN" altLang="en-US" b="1">
                <a:sym typeface="+mn-ea"/>
              </a:rPr>
              <a:t>颜色象义：</a:t>
            </a:r>
            <a:r>
              <a:rPr lang="zh-CN" altLang="en-US">
                <a:sym typeface="+mn-ea"/>
              </a:rPr>
              <a:t>桑白皮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体轻</a:t>
            </a:r>
            <a:r>
              <a:rPr lang="zh-CN" altLang="en-US">
                <a:sym typeface="+mn-ea"/>
              </a:rPr>
              <a:t>、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纤维疏松</a:t>
            </a:r>
            <a:r>
              <a:rPr lang="zh-CN" altLang="en-US">
                <a:sym typeface="+mn-ea"/>
              </a:rPr>
              <a:t>，宣散、开泄肺气。桑白皮体轻，质韧，纤维性极强，极易纵向撕裂，撕裂有粉尘，质地疏松不厚重。轻清上浮，专入上焦肺，能宣开、疏泄壅滞肺气，不沉降攻伐。纤维疏松、多孔隙之象，孔隙主 “通、利、泄”。一则开散肺郁，缓解肺气壅塞咳喘；二则通利周身毛孔、三焦水道，水湿从皮毛、小便而去，对应肌肤浮肿、水肿尿少。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四、桑白皮的产地加工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8305" y="1614805"/>
            <a:ext cx="11405235" cy="476313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4</a:t>
            </a:r>
            <a:r>
              <a:rPr lang="zh-CN" b="1">
                <a:sym typeface="+mn-ea"/>
              </a:rPr>
              <a:t>）中空象义：桑白皮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中空</a:t>
            </a:r>
            <a:r>
              <a:rPr lang="zh-CN" altLang="en-US" b="1">
                <a:sym typeface="+mn-ea"/>
              </a:rPr>
              <a:t>、泻肺中实满，消胀满。</a:t>
            </a:r>
            <a:r>
              <a:rPr lang="zh-CN" altLang="en-US">
                <a:sym typeface="+mn-ea"/>
              </a:rPr>
              <a:t>桑白皮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卷筒状、中空</a:t>
            </a:r>
            <a:r>
              <a:rPr lang="zh-CN" altLang="en-US">
                <a:sym typeface="+mn-ea"/>
              </a:rPr>
              <a:t>，中空能泄满、消壅塞。肺为华盖，肺热壅滞则肺气胀满、胸闷喘逆；水湿停聚则腹满身肿、胀满。桑白皮善治水肿胀满，专消肺、皮、周身水湿壅滞之满闷，只泄壅滞，不耗正气（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味甘</a:t>
            </a:r>
            <a:r>
              <a:rPr lang="zh-CN" altLang="en-US">
                <a:sym typeface="+mn-ea"/>
              </a:rPr>
              <a:t>缓，不伤正）。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5</a:t>
            </a:r>
            <a:r>
              <a:rPr lang="zh-CN" altLang="en-US" b="1">
                <a:sym typeface="+mn-ea"/>
              </a:rPr>
              <a:t>）采收象义：秋采、地下生根，清肃降气，秋末落叶至春发芽前采挖。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秋</a:t>
            </a:r>
            <a:r>
              <a:rPr lang="zh-CN" altLang="en-US">
                <a:sym typeface="+mn-ea"/>
              </a:rPr>
              <a:t>属金，金气肃降；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树根</a:t>
            </a:r>
            <a:r>
              <a:rPr lang="zh-CN" altLang="en-US">
                <a:sym typeface="+mn-ea"/>
              </a:rPr>
              <a:t>深埋土中，得地下阴寒之气，助长寒性。桑白皮禀秋金肃降之气，能降上逆之肺气，平息咳喘；得地下水气，善引水湿下走膀胱。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五、桑白皮药材市场现状</a:t>
            </a:r>
            <a:endParaRPr lang="zh-CN" altLang="en-US" b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1. 全国产能分布（2025 产业统计）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zh-CN" altLang="en-US"/>
              <a:t>全国桑树种植总面积约186 万亩，年桑白皮原料总产量约 5.4 万吨；安徽亳州、河南商丘、浙江、川渝、湖北为五大货源地，</a:t>
            </a:r>
            <a:r>
              <a:rPr lang="zh-CN" altLang="en-US" b="1"/>
              <a:t>亳州是全国集散中心</a:t>
            </a:r>
            <a:r>
              <a:rPr lang="zh-CN" altLang="en-US"/>
              <a:t>，年加工量 1.86 万吨，占全国 34.2%。</a:t>
            </a:r>
            <a:endParaRPr lang="zh-CN" altLang="en-US"/>
          </a:p>
          <a:p>
            <a:pPr fontAlgn="auto">
              <a:lnSpc>
                <a:spcPts val="3000"/>
              </a:lnSpc>
            </a:pPr>
            <a:r>
              <a:rPr lang="zh-CN" altLang="en-US" b="1">
                <a:sym typeface="+mn-ea"/>
              </a:rPr>
              <a:t>2. 三大主流商品</a:t>
            </a:r>
            <a:endParaRPr lang="zh-CN" altLang="en-US"/>
          </a:p>
          <a:p>
            <a:pPr fontAlgn="auto">
              <a:lnSpc>
                <a:spcPts val="3000"/>
              </a:lnSpc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1</a:t>
            </a:r>
            <a:r>
              <a:rPr lang="zh-CN" altLang="en-US" b="1">
                <a:sym typeface="+mn-ea"/>
              </a:rPr>
              <a:t>）亳桑皮</a:t>
            </a:r>
            <a:r>
              <a:rPr lang="zh-CN" altLang="en-US">
                <a:sym typeface="+mn-ea"/>
              </a:rPr>
              <a:t>：安徽亳州、河南商丘。根皮厚、色洁白、纤维细密，桑皮素、总黄酮含量稳定达标。</a:t>
            </a:r>
            <a:endParaRPr lang="zh-CN" altLang="en-US">
              <a:sym typeface="+mn-ea"/>
            </a:endParaRPr>
          </a:p>
          <a:p>
            <a:pPr fontAlgn="auto">
              <a:lnSpc>
                <a:spcPts val="3000"/>
              </a:lnSpc>
            </a:pPr>
            <a:r>
              <a:rPr lang="zh-CN" altLang="en-US">
                <a:sym typeface="+mn-ea"/>
              </a:rPr>
              <a:t>严桑皮（浙江杭嘉湖，传统蚕桑产区）</a:t>
            </a:r>
            <a:endParaRPr lang="zh-CN" altLang="en-US"/>
          </a:p>
          <a:p>
            <a:pPr fontAlgn="auto">
              <a:lnSpc>
                <a:spcPts val="3000"/>
              </a:lnSpc>
            </a:pPr>
            <a:r>
              <a:rPr lang="zh-CN" altLang="en-US" b="1">
                <a:sym typeface="+mn-ea"/>
              </a:rPr>
              <a:t>（</a:t>
            </a:r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）严桑皮</a:t>
            </a:r>
            <a:r>
              <a:rPr lang="zh-CN" altLang="en-US">
                <a:sym typeface="+mn-ea"/>
              </a:rPr>
              <a:t>：浙江杭嘉湖。产量逐年萎缩。</a:t>
            </a:r>
            <a:endParaRPr lang="zh-CN" altLang="en-US"/>
          </a:p>
          <a:p>
            <a:pPr fontAlgn="auto">
              <a:lnSpc>
                <a:spcPts val="3000"/>
              </a:lnSpc>
            </a:pPr>
            <a:endParaRPr lang="zh-CN" altLang="en-US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五、桑白皮药材市场现状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p>
            <a:pPr fontAlgn="auto">
              <a:lnSpc>
                <a:spcPts val="3300"/>
              </a:lnSpc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）川 / 鄂桑白皮</a:t>
            </a:r>
            <a:r>
              <a:rPr lang="zh-CN" altLang="en-US"/>
              <a:t>：四川、湖北、广西。古道地犍为产区（川南）、湖北山区野生 / 半野生桑。根皮偏薄、粗皮残留多，有效成分波动大，价格最低。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1132205" y="3429000"/>
          <a:ext cx="9812655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1720"/>
                <a:gridCol w="494093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规格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产地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亳桑皮全刮选货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安徽亳州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湖北 / 四川全刮统货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川鄂产区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半刮皮统货（带部分粗皮）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山区通货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不刮皮毛统货（原皮不加工）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偏远产地</a:t>
                      </a:r>
                      <a:endParaRPr lang="zh-CN" alt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五、桑白皮药材市场现状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/>
              <a:t>西南、华中山区采挖作桑白皮流通</a:t>
            </a:r>
            <a:endParaRPr lang="zh-CN" altLang="en-US" b="1"/>
          </a:p>
          <a:p>
            <a:r>
              <a:rPr lang="zh-CN" altLang="en-US" b="1"/>
              <a:t>鸡桑</a:t>
            </a:r>
            <a:r>
              <a:rPr lang="zh-CN" altLang="en-US"/>
              <a:t> </a:t>
            </a:r>
            <a:r>
              <a:rPr lang="en-US" altLang="zh-CN" i="1"/>
              <a:t>Morus australis</a:t>
            </a:r>
            <a:r>
              <a:rPr lang="en-US" altLang="zh-CN"/>
              <a:t> Poir.（</a:t>
            </a:r>
            <a:r>
              <a:rPr lang="zh-CN" altLang="en-US"/>
              <a:t>古籍 “山桑” 核心野生种）</a:t>
            </a:r>
            <a:endParaRPr lang="zh-CN" altLang="en-US"/>
          </a:p>
          <a:p>
            <a:r>
              <a:rPr lang="zh-CN" altLang="en-US" b="1"/>
              <a:t>华桑</a:t>
            </a:r>
            <a:r>
              <a:rPr lang="zh-CN" altLang="en-US"/>
              <a:t> </a:t>
            </a:r>
            <a:r>
              <a:rPr lang="en-US" altLang="zh-CN" i="1"/>
              <a:t>Morus cathayana</a:t>
            </a:r>
            <a:r>
              <a:rPr lang="en-US" altLang="zh-CN"/>
              <a:t> Hemsl.（</a:t>
            </a:r>
            <a:r>
              <a:rPr lang="zh-CN" altLang="en-US"/>
              <a:t>川黔鄂主流野生桑）</a:t>
            </a:r>
            <a:endParaRPr lang="zh-CN" altLang="en-US"/>
          </a:p>
          <a:p>
            <a:r>
              <a:rPr lang="zh-CN" altLang="en-US" b="1"/>
              <a:t>蒙桑</a:t>
            </a:r>
            <a:r>
              <a:rPr lang="zh-CN" altLang="en-US" i="1"/>
              <a:t> </a:t>
            </a:r>
            <a:r>
              <a:rPr lang="en-US" altLang="zh-CN" i="1"/>
              <a:t>Morus mongolica</a:t>
            </a:r>
            <a:r>
              <a:rPr lang="en-US" altLang="zh-CN"/>
              <a:t> Schneid.（</a:t>
            </a:r>
            <a:r>
              <a:rPr lang="zh-CN" altLang="en-US"/>
              <a:t>华北、西北山地野生桑）</a:t>
            </a:r>
            <a:endParaRPr lang="zh-CN" altLang="en-US"/>
          </a:p>
          <a:p>
            <a:r>
              <a:rPr lang="zh-CN" altLang="en-US" b="1"/>
              <a:t>次要野生</a:t>
            </a:r>
            <a:r>
              <a:rPr lang="zh-CN" altLang="en-US"/>
              <a:t>：长穗桑、荔波桑、川桑等局部区域野生桑属植物</a:t>
            </a:r>
            <a:endParaRPr lang="zh-CN" altLang="en-US"/>
          </a:p>
          <a:p>
            <a:r>
              <a:rPr lang="zh-CN" altLang="en-US" b="1"/>
              <a:t>川、渝、黔、湘、鄂山区野生货</a:t>
            </a:r>
            <a:r>
              <a:rPr lang="zh-CN" altLang="en-US"/>
              <a:t>：华桑、鸡桑占绝大多数；</a:t>
            </a:r>
            <a:endParaRPr lang="zh-CN" altLang="en-US"/>
          </a:p>
          <a:p>
            <a:r>
              <a:rPr lang="zh-CN" altLang="en-US" b="1"/>
              <a:t>华北、山西、陕西、东北野生货源</a:t>
            </a:r>
            <a:r>
              <a:rPr lang="zh-CN" altLang="en-US"/>
              <a:t>：蒙桑；</a:t>
            </a:r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406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 b="1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920750" y="1297940"/>
            <a:ext cx="10515600" cy="50920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ts val="3360"/>
              </a:lnSpc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桑科：</a:t>
            </a:r>
            <a:r>
              <a:rPr lang="zh-CN" altLang="en-US">
                <a:sym typeface="+mn-ea"/>
              </a:rPr>
              <a:t>木本，有白色乳汁，单性花，单被花，P</a:t>
            </a:r>
            <a:r>
              <a:rPr lang="zh-CN" altLang="en-US" baseline="-25000">
                <a:solidFill>
                  <a:schemeClr val="tx1"/>
                </a:solidFill>
                <a:uFillTx/>
                <a:sym typeface="+mn-ea"/>
              </a:rPr>
              <a:t>4</a:t>
            </a:r>
            <a:r>
              <a:rPr lang="zh-CN" altLang="en-US">
                <a:sym typeface="+mn-ea"/>
              </a:rPr>
              <a:t>A</a:t>
            </a:r>
            <a:r>
              <a:rPr lang="zh-CN" altLang="en-US" baseline="-25000">
                <a:solidFill>
                  <a:schemeClr val="tx1"/>
                </a:solidFill>
                <a:uFillTx/>
                <a:sym typeface="+mn-ea"/>
              </a:rPr>
              <a:t>4</a:t>
            </a:r>
            <a:r>
              <a:rPr lang="zh-CN" altLang="en-US">
                <a:sym typeface="+mn-ea"/>
              </a:rPr>
              <a:t>，对生，</a:t>
            </a:r>
            <a:r>
              <a:rPr lang="zh-CN" altLang="en-US" u="sng">
                <a:sym typeface="+mn-ea"/>
              </a:rPr>
              <a:t>G</a:t>
            </a:r>
            <a:r>
              <a:rPr lang="zh-CN" altLang="en-US" baseline="-25000">
                <a:uFillTx/>
                <a:sym typeface="+mn-ea"/>
              </a:rPr>
              <a:t>(2:1)</a:t>
            </a:r>
            <a:endParaRPr lang="zh-CN" altLang="en-US" baseline="-25000">
              <a:uFillTx/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 b="1">
                <a:solidFill>
                  <a:srgbClr val="FF0000"/>
                </a:solidFill>
                <a:sym typeface="+mn-ea"/>
              </a:rPr>
              <a:t>桑属</a:t>
            </a:r>
            <a:r>
              <a:rPr lang="zh-CN" altLang="en-US" b="1">
                <a:sym typeface="+mn-ea"/>
              </a:rPr>
              <a:t>：</a:t>
            </a:r>
            <a:r>
              <a:rPr lang="zh-CN" altLang="en-US">
                <a:sym typeface="+mn-ea"/>
              </a:rPr>
              <a:t>雄花序穗状花序，雌花序葇荑花序，果序圆柱形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b="1"/>
              <a:t>（</a:t>
            </a:r>
            <a:r>
              <a:rPr lang="en-US" altLang="zh-CN" b="1"/>
              <a:t>1</a:t>
            </a:r>
            <a:r>
              <a:rPr lang="zh-CN" b="1"/>
              <a:t>）《中国植物志》</a:t>
            </a:r>
            <a:r>
              <a:rPr lang="zh-CN"/>
              <a:t>：</a:t>
            </a:r>
            <a:r>
              <a:rPr lang="en-US" altLang="zh-CN"/>
              <a:t> </a:t>
            </a:r>
            <a:r>
              <a:rPr lang="zh-CN" altLang="en-US"/>
              <a:t>我国产11 种</a:t>
            </a:r>
            <a:r>
              <a:rPr lang="en-US" altLang="zh-CN"/>
              <a:t>7</a:t>
            </a:r>
            <a:r>
              <a:rPr lang="zh-CN" altLang="en-US"/>
              <a:t>变种，各地均有分布。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</a:t>
            </a:r>
            <a:r>
              <a:rPr lang="en-US" altLang="zh-CN" b="1"/>
              <a:t>FOC</a:t>
            </a:r>
            <a:r>
              <a:rPr lang="en-US" altLang="zh-CN"/>
              <a:t> </a:t>
            </a:r>
            <a:r>
              <a:rPr lang="zh-CN" altLang="en-US"/>
              <a:t>：中国有11种</a:t>
            </a:r>
            <a:r>
              <a:rPr lang="en-US" altLang="zh-CN"/>
              <a:t>2</a:t>
            </a:r>
            <a:r>
              <a:rPr lang="zh-CN" altLang="en-US"/>
              <a:t>变种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桑（鲁桑）、鸡桑、华桑（贡山桑）、荔波桑、奶桑、蒙桑（</a:t>
            </a:r>
            <a:r>
              <a:rPr lang="en-US" altLang="zh-CN" b="1">
                <a:sym typeface="+mn-ea"/>
              </a:rPr>
              <a:t>5</a:t>
            </a:r>
            <a:r>
              <a:rPr lang="zh-CN" altLang="en-US" b="1">
                <a:sym typeface="+mn-ea"/>
              </a:rPr>
              <a:t>变种）、黑桑、川桑、吉隆桑、裂叶桑、长穗桑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</a:t>
            </a:r>
            <a:r>
              <a:rPr lang="en-US" altLang="zh-CN" b="1"/>
              <a:t>2026</a:t>
            </a:r>
            <a:r>
              <a:rPr lang="zh-CN" altLang="en-US" b="1"/>
              <a:t>物种名录</a:t>
            </a:r>
            <a:r>
              <a:rPr lang="zh-CN" altLang="en-US"/>
              <a:t>：</a:t>
            </a:r>
            <a:r>
              <a:rPr lang="en-US" altLang="zh-CN"/>
              <a:t>11</a:t>
            </a:r>
            <a:r>
              <a:rPr lang="zh-CN" altLang="en-US"/>
              <a:t>种</a:t>
            </a:r>
            <a:r>
              <a:rPr lang="en-US" altLang="zh-CN"/>
              <a:t>3</a:t>
            </a:r>
            <a:r>
              <a:rPr lang="zh-CN" altLang="en-US"/>
              <a:t>变种</a:t>
            </a:r>
            <a:r>
              <a:rPr lang="en-US" altLang="zh-CN"/>
              <a:t>1</a:t>
            </a:r>
            <a:r>
              <a:rPr lang="zh-CN" altLang="en-US"/>
              <a:t>栽培品种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桑（</a:t>
            </a:r>
            <a:r>
              <a:rPr lang="zh-CN" altLang="en-US" b="1">
                <a:solidFill>
                  <a:srgbClr val="FF0000"/>
                </a:solidFill>
              </a:rPr>
              <a:t>龙爪桑</a:t>
            </a:r>
            <a:r>
              <a:rPr lang="zh-CN" altLang="en-US" b="1"/>
              <a:t>、鲁桑）、鸡桑、华桑（贡山桑）、荔波桑、奶桑、蒙桑（毛蒙桑）、黑桑、川桑、吉隆桑、裂叶桑、长穗桑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endParaRPr lang="en-US" altLang="zh-CN" b="1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453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0030" y="1241425"/>
            <a:ext cx="11760200" cy="862330"/>
          </a:xfrm>
        </p:spPr>
        <p:txBody>
          <a:bodyPr>
            <a:noAutofit/>
          </a:bodyPr>
          <a:p>
            <a:r>
              <a:rPr lang="en-US" altLang="zh-CN" sz="2400" b="1"/>
              <a:t>1.</a:t>
            </a:r>
            <a:r>
              <a:rPr lang="zh-CN" altLang="en-US" sz="2400" b="1"/>
              <a:t>雌花花柱极短或缺失（荔波桑、长穗桑、奶桑、</a:t>
            </a:r>
            <a:r>
              <a:rPr lang="zh-CN" altLang="en-US" sz="2400" b="1">
                <a:gradFill>
                  <a:gsLst>
                    <a:gs pos="51300">
                      <a:srgbClr val="FE5F4A"/>
                    </a:gs>
                    <a:gs pos="0">
                      <a:srgbClr val="DF0303"/>
                    </a:gs>
                    <a:gs pos="100000">
                      <a:srgbClr val="FEA06E"/>
                    </a:gs>
                  </a:gsLst>
                  <a:lin ang="5400000" scaled="1"/>
                </a:gradFill>
              </a:rPr>
              <a:t>桑</a:t>
            </a:r>
            <a:r>
              <a:rPr lang="zh-CN" altLang="en-US" sz="2400" b="1"/>
              <a:t>、吉隆桑、黑桑、华桑）（</a:t>
            </a:r>
            <a:r>
              <a:rPr lang="en-US" altLang="zh-CN" sz="2400" b="1"/>
              <a:t>2</a:t>
            </a:r>
            <a:r>
              <a:rPr lang="zh-CN" altLang="en-US" sz="2400" b="1"/>
              <a:t>）</a:t>
            </a:r>
            <a:endParaRPr lang="zh-CN" altLang="en-US" sz="2400" b="1"/>
          </a:p>
          <a:p>
            <a:r>
              <a:rPr lang="en-US" altLang="zh-CN" sz="2400">
                <a:sym typeface="+mn-ea"/>
              </a:rPr>
              <a:t>1.</a:t>
            </a:r>
            <a:r>
              <a:rPr lang="zh-CN" altLang="en-US" sz="2400">
                <a:sym typeface="+mn-ea"/>
              </a:rPr>
              <a:t>雌花花柱长而显著（蒙桑、鸡桑、川桑、裂叶桑）（</a:t>
            </a:r>
            <a:r>
              <a:rPr lang="en-US" altLang="zh-CN" sz="2400">
                <a:sym typeface="+mn-ea"/>
              </a:rPr>
              <a:t>8</a:t>
            </a:r>
            <a:r>
              <a:rPr lang="zh-CN" altLang="en-US" sz="2400">
                <a:sym typeface="+mn-ea"/>
              </a:rPr>
              <a:t>）</a:t>
            </a:r>
            <a:endParaRPr lang="zh-CN" altLang="en-US" sz="2400"/>
          </a:p>
          <a:p>
            <a:endParaRPr lang="zh-CN" altLang="en-US" sz="16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835" y="2294890"/>
            <a:ext cx="4610100" cy="34963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559935" y="6139815"/>
            <a:ext cx="4191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桑：花期4-5月</a:t>
            </a:r>
            <a:endParaRPr lang="zh-CN" altLang="en-US" sz="2800" b="1"/>
          </a:p>
        </p:txBody>
      </p:sp>
      <p:sp>
        <p:nvSpPr>
          <p:cNvPr id="7" name="文本框 6"/>
          <p:cNvSpPr txBox="1"/>
          <p:nvPr/>
        </p:nvSpPr>
        <p:spPr>
          <a:xfrm>
            <a:off x="635000" y="6235700"/>
            <a:ext cx="350583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蒙桑：花期花期3-4月</a:t>
            </a:r>
            <a:endParaRPr lang="zh-CN" altLang="en-US" sz="2800" b="1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80" y="2294890"/>
            <a:ext cx="3782695" cy="337121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3335" y="2294890"/>
            <a:ext cx="3100705" cy="349694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903970" y="6055995"/>
            <a:ext cx="309626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 b="1"/>
              <a:t>蒙桑、鸡桑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613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76300" y="1387475"/>
            <a:ext cx="10515600" cy="4351338"/>
          </a:xfrm>
        </p:spPr>
        <p:txBody>
          <a:bodyPr/>
          <a:p>
            <a:r>
              <a:rPr lang="en-US" altLang="zh-CN" b="1"/>
              <a:t>2.</a:t>
            </a:r>
            <a:r>
              <a:rPr lang="zh-CN" altLang="en-US" b="1"/>
              <a:t>果序短于2.5厘米（</a:t>
            </a:r>
            <a:r>
              <a:rPr lang="zh-CN" altLang="en-US" b="1">
                <a:solidFill>
                  <a:srgbClr val="FF0000"/>
                </a:solidFill>
              </a:rPr>
              <a:t>桑</a:t>
            </a:r>
            <a:r>
              <a:rPr lang="zh-CN" altLang="en-US" b="1"/>
              <a:t>、基隆桑、黑桑、华桑）（</a:t>
            </a:r>
            <a:r>
              <a:rPr lang="en-US" altLang="zh-CN" b="1"/>
              <a:t>3</a:t>
            </a:r>
            <a:r>
              <a:rPr lang="zh-CN" altLang="en-US" b="1"/>
              <a:t>）</a:t>
            </a:r>
            <a:endParaRPr lang="zh-CN" altLang="en-US" b="1"/>
          </a:p>
          <a:p>
            <a:r>
              <a:rPr lang="en-US" altLang="zh-CN">
                <a:sym typeface="+mn-ea"/>
              </a:rPr>
              <a:t>2.</a:t>
            </a:r>
            <a:r>
              <a:rPr lang="zh-CN" altLang="en-US">
                <a:sym typeface="+mn-ea"/>
              </a:rPr>
              <a:t>果序长于2.5厘米（荔波桑、长穗桑、奶桑）（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）</a:t>
            </a:r>
            <a:endParaRPr lang="zh-CN" altLang="en-US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1270" y="2620010"/>
            <a:ext cx="2110105" cy="27825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5621655" y="2703195"/>
            <a:ext cx="2782570" cy="26924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2506980"/>
            <a:ext cx="1550670" cy="35286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755" y="2434590"/>
            <a:ext cx="1744345" cy="360108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50540" y="6134100"/>
            <a:ext cx="274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奶桑</a:t>
            </a:r>
            <a:r>
              <a:rPr lang="en-US" altLang="zh-CN" sz="2400"/>
              <a:t> </a:t>
            </a:r>
            <a:r>
              <a:rPr lang="zh-CN" altLang="en-US" sz="2400"/>
              <a:t>果期4-5月</a:t>
            </a:r>
            <a:endParaRPr lang="zh-CN" altLang="en-US" sz="2400"/>
          </a:p>
        </p:txBody>
      </p:sp>
      <p:sp>
        <p:nvSpPr>
          <p:cNvPr id="12" name="文本框 11"/>
          <p:cNvSpPr txBox="1"/>
          <p:nvPr/>
        </p:nvSpPr>
        <p:spPr>
          <a:xfrm>
            <a:off x="180340" y="6172200"/>
            <a:ext cx="274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长穗桑</a:t>
            </a:r>
            <a:r>
              <a:rPr lang="en-US" altLang="zh-CN" sz="2400"/>
              <a:t> </a:t>
            </a:r>
            <a:r>
              <a:rPr lang="zh-CN" altLang="en-US" sz="2400"/>
              <a:t>果期</a:t>
            </a:r>
            <a:r>
              <a:rPr lang="en-US" altLang="zh-CN" sz="2400"/>
              <a:t>5</a:t>
            </a:r>
            <a:r>
              <a:rPr lang="zh-CN" altLang="en-US" sz="2400"/>
              <a:t>-</a:t>
            </a:r>
            <a:r>
              <a:rPr lang="en-US" altLang="zh-CN" sz="2400"/>
              <a:t>6</a:t>
            </a:r>
            <a:r>
              <a:rPr lang="zh-CN" altLang="en-US" sz="2400"/>
              <a:t>月</a:t>
            </a:r>
            <a:endParaRPr lang="zh-CN" altLang="en-US" sz="2400"/>
          </a:p>
        </p:txBody>
      </p:sp>
      <p:sp>
        <p:nvSpPr>
          <p:cNvPr id="13" name="文本框 12"/>
          <p:cNvSpPr txBox="1"/>
          <p:nvPr/>
        </p:nvSpPr>
        <p:spPr>
          <a:xfrm>
            <a:off x="5704840" y="5620385"/>
            <a:ext cx="274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桑</a:t>
            </a:r>
            <a:r>
              <a:rPr lang="en-US" altLang="zh-CN" sz="2400"/>
              <a:t> </a:t>
            </a:r>
            <a:r>
              <a:rPr lang="zh-CN" altLang="en-US" sz="2400"/>
              <a:t>果期5-8月</a:t>
            </a:r>
            <a:endParaRPr lang="zh-CN" altLang="en-US" sz="2400"/>
          </a:p>
        </p:txBody>
      </p:sp>
      <p:sp>
        <p:nvSpPr>
          <p:cNvPr id="14" name="文本框 13"/>
          <p:cNvSpPr txBox="1"/>
          <p:nvPr/>
        </p:nvSpPr>
        <p:spPr>
          <a:xfrm>
            <a:off x="8575040" y="5575300"/>
            <a:ext cx="2743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黑桑</a:t>
            </a:r>
            <a:r>
              <a:rPr lang="en-US" altLang="zh-CN" sz="2400"/>
              <a:t> </a:t>
            </a:r>
            <a:r>
              <a:rPr lang="zh-CN" altLang="en-US" sz="2400"/>
              <a:t>果期4-5月</a:t>
            </a:r>
            <a:endParaRPr lang="zh-CN" altLang="en-US" sz="2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46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555" y="1171575"/>
            <a:ext cx="11906250" cy="1564005"/>
          </a:xfrm>
        </p:spPr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en-US" altLang="zh-CN" b="1">
                <a:sym typeface="+mn-ea"/>
              </a:rPr>
              <a:t>3.</a:t>
            </a:r>
            <a:r>
              <a:rPr lang="zh-CN" altLang="en-US" b="1">
                <a:sym typeface="+mn-ea"/>
              </a:rPr>
              <a:t>叶片沿中脉疏被短柔毛，或中脉与一级侧脉脉腋具簇毛；柱头具乳突状突起</a:t>
            </a:r>
            <a:r>
              <a:rPr lang="en-US" altLang="zh-CN" b="1">
                <a:sym typeface="+mn-ea"/>
              </a:rPr>
              <a:t>........................................................................................................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桑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3.</a:t>
            </a:r>
            <a:r>
              <a:rPr lang="zh-CN" altLang="en-US">
                <a:sym typeface="+mn-ea"/>
              </a:rPr>
              <a:t>叶片毛被特征与上述不符；柱头无乳突状突起</a:t>
            </a:r>
            <a:r>
              <a:rPr lang="zh-CN" altLang="en-US">
                <a:sym typeface="+mn-ea"/>
              </a:rPr>
              <a:t>（吉隆桑、黑桑、华桑）（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190" y="2774315"/>
            <a:ext cx="2419985" cy="3197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9550" y="6201410"/>
            <a:ext cx="43624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背面沿脉有疏毛，脉腋有簇毛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065" y="2774315"/>
            <a:ext cx="4718685" cy="31153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4640" y="2869565"/>
            <a:ext cx="3913505" cy="26765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85480" y="5226050"/>
            <a:ext cx="32829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柱头2裂，内面有乳头状突起</a:t>
            </a:r>
            <a:endParaRPr lang="zh-CN" altLang="en-US" sz="2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8920"/>
            <a:ext cx="10515600" cy="1322705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en-US" altLang="zh-CN"/>
              <a:t>4.</a:t>
            </a:r>
            <a:r>
              <a:rPr lang="zh-CN" altLang="en-US"/>
              <a:t>叶缘锯齿不规则</a:t>
            </a:r>
            <a:r>
              <a:rPr lang="zh-CN" altLang="en-US"/>
              <a:t>（</a:t>
            </a:r>
            <a:r>
              <a:rPr lang="zh-CN" altLang="en-US" b="1"/>
              <a:t>吉隆桑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4.</a:t>
            </a:r>
            <a:r>
              <a:rPr lang="zh-CN" altLang="en-US"/>
              <a:t>叶缘锯齿规整</a:t>
            </a:r>
            <a:r>
              <a:rPr lang="zh-CN" altLang="en-US"/>
              <a:t>（</a:t>
            </a:r>
            <a:r>
              <a:rPr lang="zh-CN" altLang="en-US" b="1"/>
              <a:t>黑桑、华桑</a:t>
            </a:r>
            <a:r>
              <a:rPr lang="zh-CN" altLang="en-US"/>
              <a:t>）（</a:t>
            </a:r>
            <a:r>
              <a:rPr lang="en-US" altLang="zh-CN"/>
              <a:t>5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15" y="2841625"/>
            <a:ext cx="4417695" cy="23888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320" y="2841625"/>
            <a:ext cx="3007360" cy="241744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485505" y="2035175"/>
            <a:ext cx="2428240" cy="40405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91685" y="5485765"/>
            <a:ext cx="28670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具规则粗锯齿</a:t>
            </a:r>
            <a:endParaRPr lang="zh-CN" altLang="en-US" sz="2800" b="1"/>
          </a:p>
        </p:txBody>
      </p:sp>
      <p:sp>
        <p:nvSpPr>
          <p:cNvPr id="9" name="文本框 8"/>
          <p:cNvSpPr txBox="1"/>
          <p:nvPr/>
        </p:nvSpPr>
        <p:spPr>
          <a:xfrm>
            <a:off x="7714615" y="5485765"/>
            <a:ext cx="39719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具浅至粗锯齿，或基部全缘先端具浅锯齿</a:t>
            </a:r>
            <a:endParaRPr lang="zh-CN" altLang="en-US" sz="2800" b="1"/>
          </a:p>
        </p:txBody>
      </p:sp>
      <p:sp>
        <p:nvSpPr>
          <p:cNvPr id="10" name="文本框 9"/>
          <p:cNvSpPr txBox="1"/>
          <p:nvPr/>
        </p:nvSpPr>
        <p:spPr>
          <a:xfrm>
            <a:off x="266065" y="5485765"/>
            <a:ext cx="4246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具三角形齿且齿端短渐尖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81430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en-US" altLang="zh-CN"/>
              <a:t>5.</a:t>
            </a:r>
            <a:r>
              <a:rPr lang="zh-CN" altLang="en-US"/>
              <a:t>聚花果直径 1.5–2.5 </a:t>
            </a:r>
            <a:r>
              <a:rPr lang="en-US" altLang="zh-CN"/>
              <a:t>cm；</a:t>
            </a:r>
            <a:r>
              <a:rPr lang="zh-CN" altLang="en-US"/>
              <a:t>柱头被长柔毛</a:t>
            </a:r>
            <a:r>
              <a:rPr lang="zh-CN" altLang="en-US"/>
              <a:t>（</a:t>
            </a:r>
            <a:r>
              <a:rPr lang="zh-CN" altLang="en-US" b="1"/>
              <a:t>黑桑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5.</a:t>
            </a:r>
            <a:r>
              <a:rPr lang="zh-CN" altLang="en-US"/>
              <a:t>聚花果直径不及 1 </a:t>
            </a:r>
            <a:r>
              <a:rPr lang="en-US" altLang="zh-CN"/>
              <a:t>cm；</a:t>
            </a:r>
            <a:r>
              <a:rPr lang="zh-CN" altLang="en-US"/>
              <a:t>柱头被短柔毛</a:t>
            </a:r>
            <a:r>
              <a:rPr lang="zh-CN" altLang="en-US"/>
              <a:t>（</a:t>
            </a:r>
            <a:r>
              <a:rPr lang="zh-CN" altLang="en-US" b="1"/>
              <a:t>华桑</a:t>
            </a:r>
            <a:r>
              <a:rPr lang="zh-CN" altLang="en-US"/>
              <a:t>）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5146040" y="2294255"/>
            <a:ext cx="2930525" cy="45554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118235" y="3028950"/>
            <a:ext cx="2889250" cy="30448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7025" y="1491615"/>
            <a:ext cx="11600180" cy="1724025"/>
          </a:xfrm>
        </p:spPr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en-US" altLang="zh-CN"/>
              <a:t>6.</a:t>
            </a:r>
            <a:r>
              <a:rPr lang="zh-CN" altLang="en-US"/>
              <a:t>果序中果实连合形成聚花果，长 2.5–3.7 </a:t>
            </a:r>
            <a:r>
              <a:rPr lang="en-US" altLang="zh-CN"/>
              <a:t>cm；</a:t>
            </a:r>
            <a:r>
              <a:rPr lang="zh-CN" altLang="en-US"/>
              <a:t>叶片椭圆形至狭椭圆形</a:t>
            </a:r>
            <a:r>
              <a:rPr lang="zh-CN" altLang="en-US"/>
              <a:t>（</a:t>
            </a:r>
            <a:r>
              <a:rPr lang="zh-CN" altLang="en-US" b="1"/>
              <a:t>荔波桑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6.</a:t>
            </a:r>
            <a:r>
              <a:rPr lang="zh-CN" altLang="en-US"/>
              <a:t>果序中果实近离生，长 6–16 </a:t>
            </a:r>
            <a:r>
              <a:rPr lang="en-US" altLang="zh-CN"/>
              <a:t>cm；</a:t>
            </a:r>
            <a:r>
              <a:rPr lang="zh-CN" altLang="en-US"/>
              <a:t>叶片卵形、宽卵形、长圆形或宽椭圆形</a:t>
            </a:r>
            <a:r>
              <a:rPr lang="zh-CN" altLang="en-US"/>
              <a:t>（</a:t>
            </a:r>
            <a:r>
              <a:rPr lang="zh-CN" altLang="en-US" b="1"/>
              <a:t>长穗桑、奶桑</a:t>
            </a:r>
            <a:r>
              <a:rPr lang="zh-CN" altLang="en-US"/>
              <a:t>）（</a:t>
            </a:r>
            <a:r>
              <a:rPr lang="en-US" altLang="zh-CN"/>
              <a:t>7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17110" y="3584575"/>
            <a:ext cx="2114550" cy="30302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0" y="3584575"/>
            <a:ext cx="1578610" cy="303085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08965" y="4196080"/>
            <a:ext cx="22529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荔波桑</a:t>
            </a:r>
            <a:endParaRPr lang="zh-CN" altLang="en-US" sz="2800" b="1"/>
          </a:p>
          <a:p>
            <a:r>
              <a:rPr lang="zh-CN" altLang="en-US" sz="2800" b="1"/>
              <a:t>长2.5-3.7</a:t>
            </a:r>
            <a:r>
              <a:rPr lang="en-US" altLang="zh-CN" sz="2800" b="1"/>
              <a:t>cm</a:t>
            </a:r>
            <a:endParaRPr lang="en-US" altLang="zh-CN" sz="2800" b="1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2081530" y="4237990"/>
            <a:ext cx="3030220" cy="172339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3950" y="3584575"/>
            <a:ext cx="3034030" cy="301561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76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5750" y="1176020"/>
            <a:ext cx="11661140" cy="199517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en-US" altLang="zh-CN"/>
              <a:t>7.</a:t>
            </a:r>
            <a:r>
              <a:rPr lang="zh-CN" altLang="en-US"/>
              <a:t>叶片长圆形至宽椭圆形，叶近全缘或仅先端具齿；果序 长 10–16 </a:t>
            </a:r>
            <a:r>
              <a:rPr lang="en-US" altLang="zh-CN"/>
              <a:t>cm，</a:t>
            </a:r>
            <a:r>
              <a:rPr lang="zh-CN" altLang="en-US"/>
              <a:t>肉质不明显</a:t>
            </a:r>
            <a:r>
              <a:rPr lang="en-US" altLang="zh-CN"/>
              <a:t>...................................</a:t>
            </a:r>
            <a:r>
              <a:rPr lang="en-US" altLang="zh-CN">
                <a:sym typeface="+mn-ea"/>
              </a:rPr>
              <a:t>............</a:t>
            </a:r>
            <a:r>
              <a:rPr lang="en-US" altLang="zh-CN"/>
              <a:t>...............</a:t>
            </a:r>
            <a:r>
              <a:rPr lang="zh-CN" altLang="en-US"/>
              <a:t>长穗桑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7.</a:t>
            </a:r>
            <a:r>
              <a:rPr lang="zh-CN" altLang="en-US">
                <a:sym typeface="+mn-ea"/>
              </a:rPr>
              <a:t>叶片卵形至宽卵形，叶缘具细密锯齿；果序长 6–12 </a:t>
            </a:r>
            <a:r>
              <a:rPr lang="en-US" altLang="zh-CN">
                <a:sym typeface="+mn-ea"/>
              </a:rPr>
              <a:t>cm， </a:t>
            </a:r>
            <a:r>
              <a:rPr lang="zh-CN" altLang="en-US">
                <a:sym typeface="+mn-ea"/>
              </a:rPr>
              <a:t>肉质</a:t>
            </a:r>
            <a:r>
              <a:rPr lang="en-US" altLang="zh-CN">
                <a:sym typeface="+mn-ea"/>
              </a:rPr>
              <a:t>.........</a:t>
            </a:r>
            <a:r>
              <a:rPr lang="en-US" altLang="zh-CN">
                <a:sym typeface="+mn-ea"/>
              </a:rPr>
              <a:t>........................................................................................</a:t>
            </a:r>
            <a:r>
              <a:rPr lang="zh-CN" altLang="en-US">
                <a:sym typeface="+mn-ea"/>
              </a:rPr>
              <a:t>奶桑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4430" y="3170555"/>
            <a:ext cx="3300730" cy="33839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515" y="3170555"/>
            <a:ext cx="1612900" cy="33845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770" y="3170555"/>
            <a:ext cx="2610485" cy="33839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555" y="3170555"/>
            <a:ext cx="1852295" cy="33845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4220" y="1538605"/>
            <a:ext cx="10515600" cy="1301750"/>
          </a:xfrm>
        </p:spPr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en-US" altLang="zh-CN"/>
              <a:t>8.</a:t>
            </a:r>
            <a:r>
              <a:rPr lang="zh-CN" altLang="en-US"/>
              <a:t>齿尖具</a:t>
            </a:r>
            <a:r>
              <a:rPr lang="zh-CN" altLang="en-US">
                <a:sym typeface="+mn-ea"/>
              </a:rPr>
              <a:t>长刺芒</a:t>
            </a:r>
            <a:r>
              <a:rPr lang="zh-CN" altLang="en-US"/>
              <a:t>；柱头具乳头状突起（</a:t>
            </a:r>
            <a:r>
              <a:rPr lang="zh-CN" altLang="en-US" b="1"/>
              <a:t>蒙桑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8.</a:t>
            </a:r>
            <a:r>
              <a:rPr lang="zh-CN" altLang="en-US"/>
              <a:t>齿</a:t>
            </a:r>
            <a:r>
              <a:rPr lang="zh-CN" altLang="en-US">
                <a:sym typeface="+mn-ea"/>
              </a:rPr>
              <a:t>尖</a:t>
            </a:r>
            <a:r>
              <a:rPr lang="zh-CN" altLang="en-US"/>
              <a:t>无</a:t>
            </a:r>
            <a:r>
              <a:rPr lang="zh-CN" altLang="en-US">
                <a:sym typeface="+mn-ea"/>
              </a:rPr>
              <a:t>长刺芒</a:t>
            </a:r>
            <a:r>
              <a:rPr lang="zh-CN" altLang="en-US"/>
              <a:t>；柱头不具乳头状突起（</a:t>
            </a:r>
            <a:r>
              <a:rPr lang="zh-CN" altLang="en-US" b="1">
                <a:sym typeface="+mn-ea"/>
              </a:rPr>
              <a:t>鸡桑、川桑、裂叶桑</a:t>
            </a:r>
            <a:r>
              <a:rPr lang="zh-CN" altLang="en-US">
                <a:sym typeface="+mn-ea"/>
              </a:rPr>
              <a:t>）（</a:t>
            </a:r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450" y="2840355"/>
            <a:ext cx="2465070" cy="3052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52780" y="6110605"/>
            <a:ext cx="30695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齿尖有长刺芒</a:t>
            </a:r>
            <a:endParaRPr lang="zh-CN" altLang="en-US" sz="28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200" y="2840355"/>
            <a:ext cx="3913505" cy="30099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178300" y="6110605"/>
            <a:ext cx="70815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800"/>
              <a:t>具锯齿或全缘，齿尖无长刺芒，</a:t>
            </a:r>
            <a:endParaRPr lang="zh-CN" altLang="en-US" sz="28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39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85520"/>
            <a:ext cx="10515600" cy="1352550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en-US" altLang="zh-CN"/>
              <a:t>9.</a:t>
            </a:r>
            <a:r>
              <a:rPr lang="zh-CN" altLang="en-US"/>
              <a:t>果实长</a:t>
            </a:r>
            <a:r>
              <a:rPr lang="en-US" altLang="zh-CN"/>
              <a:t>2.5cm</a:t>
            </a:r>
            <a:r>
              <a:rPr lang="zh-CN" altLang="en-US"/>
              <a:t>以内（</a:t>
            </a:r>
            <a:r>
              <a:rPr lang="zh-CN" altLang="en-US" b="1"/>
              <a:t>鸡桑</a:t>
            </a:r>
            <a:r>
              <a:rPr lang="zh-CN" altLang="en-US"/>
              <a:t>）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en-US" altLang="zh-CN"/>
              <a:t>9.</a:t>
            </a:r>
            <a:r>
              <a:rPr lang="zh-CN" altLang="en-US"/>
              <a:t>果实长</a:t>
            </a:r>
            <a:r>
              <a:rPr lang="en-US" altLang="zh-CN"/>
              <a:t>3-6 cm</a:t>
            </a:r>
            <a:r>
              <a:rPr lang="zh-CN" altLang="en-US"/>
              <a:t>（</a:t>
            </a:r>
            <a:r>
              <a:rPr lang="zh-CN" altLang="en-US" b="1"/>
              <a:t>川桑、裂叶桑</a:t>
            </a:r>
            <a:r>
              <a:rPr lang="zh-CN" altLang="en-US"/>
              <a:t>）（</a:t>
            </a:r>
            <a:r>
              <a:rPr lang="en-US" altLang="zh-CN"/>
              <a:t>9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090" y="2124710"/>
            <a:ext cx="3360420" cy="36017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9765" y="5977255"/>
            <a:ext cx="44418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果实短圆柱形，直径约1</a:t>
            </a:r>
            <a:r>
              <a:rPr lang="en-US" altLang="zh-CN" sz="2800"/>
              <a:t>cm</a:t>
            </a:r>
            <a:endParaRPr lang="en-US" altLang="zh-CN" sz="2800"/>
          </a:p>
        </p:txBody>
      </p:sp>
      <p:sp>
        <p:nvSpPr>
          <p:cNvPr id="6" name="文本框 5"/>
          <p:cNvSpPr txBox="1"/>
          <p:nvPr/>
        </p:nvSpPr>
        <p:spPr>
          <a:xfrm>
            <a:off x="5101590" y="5977255"/>
            <a:ext cx="2722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ym typeface="+mn-ea"/>
              </a:rPr>
              <a:t>果实</a:t>
            </a:r>
            <a:r>
              <a:rPr lang="zh-CN" altLang="en-US" sz="2800"/>
              <a:t>长3.5-4</a:t>
            </a:r>
            <a:r>
              <a:rPr lang="en-US" altLang="zh-CN" sz="2800"/>
              <a:t>cm</a:t>
            </a:r>
            <a:endParaRPr lang="en-US" altLang="zh-CN" sz="28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0465" y="2124710"/>
            <a:ext cx="2372360" cy="373126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515" y="2124710"/>
            <a:ext cx="3078480" cy="368808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299450" y="5977255"/>
            <a:ext cx="272288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ym typeface="+mn-ea"/>
              </a:rPr>
              <a:t>果实</a:t>
            </a:r>
            <a:r>
              <a:rPr lang="zh-CN" altLang="en-US" sz="2800"/>
              <a:t>长3.5-4</a:t>
            </a:r>
            <a:r>
              <a:rPr lang="en-US" altLang="zh-CN" sz="2800"/>
              <a:t>cm</a:t>
            </a:r>
            <a:endParaRPr lang="en-US" altLang="zh-CN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7030" y="1825625"/>
            <a:ext cx="10986770" cy="1371600"/>
          </a:xfrm>
        </p:spPr>
        <p:txBody>
          <a:bodyPr/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10.</a:t>
            </a:r>
            <a:r>
              <a:rPr lang="zh-CN" altLang="en-US">
                <a:sym typeface="+mn-ea"/>
              </a:rPr>
              <a:t>叶不分裂，叶脉于叶背隆起；柱头无毛（</a:t>
            </a:r>
            <a:r>
              <a:rPr lang="zh-CN" altLang="en-US" b="1">
                <a:sym typeface="+mn-ea"/>
              </a:rPr>
              <a:t>川桑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10.</a:t>
            </a:r>
            <a:r>
              <a:rPr lang="zh-CN" altLang="en-US">
                <a:sym typeface="+mn-ea"/>
              </a:rPr>
              <a:t>叶 3-5 深裂，叶脉于叶背不隆起；柱头远轴面被短柔毛（</a:t>
            </a:r>
            <a:r>
              <a:rPr lang="zh-CN" altLang="en-US" b="1">
                <a:sym typeface="+mn-ea"/>
              </a:rPr>
              <a:t>裂叶桑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630" y="3197225"/>
            <a:ext cx="4320540" cy="31699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55" y="3197225"/>
            <a:ext cx="4183380" cy="31775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710055"/>
            <a:ext cx="12068810" cy="34029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0195" y="5443855"/>
            <a:ext cx="114623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有无花柱、锯齿芒尖、果实长短（</a:t>
            </a:r>
            <a:r>
              <a:rPr lang="en-US" altLang="zh-CN" sz="2400" b="1"/>
              <a:t>&lt;2.5</a:t>
            </a:r>
            <a:r>
              <a:rPr lang="zh-CN" altLang="en-US" sz="2400" b="1"/>
              <a:t>、</a:t>
            </a:r>
            <a:r>
              <a:rPr lang="en-US" altLang="zh-CN" sz="2400" b="1"/>
              <a:t>&gt;3</a:t>
            </a:r>
            <a:r>
              <a:rPr lang="zh-CN" altLang="en-US" sz="2400" b="1"/>
              <a:t>）、叶片裂否；果实长短（</a:t>
            </a:r>
            <a:r>
              <a:rPr lang="en-US" altLang="zh-CN" sz="2400" b="1"/>
              <a:t>2.5</a:t>
            </a:r>
            <a:r>
              <a:rPr lang="zh-CN" altLang="en-US" sz="2400" b="1"/>
              <a:t>）、果实长短（</a:t>
            </a:r>
            <a:r>
              <a:rPr lang="en-US" altLang="zh-CN" sz="2400" b="1"/>
              <a:t>&lt;3.7</a:t>
            </a:r>
            <a:r>
              <a:rPr lang="zh-CN" altLang="en-US" sz="2400" b="1"/>
              <a:t>、</a:t>
            </a:r>
            <a:r>
              <a:rPr lang="en-US" altLang="zh-CN" sz="2400" b="1"/>
              <a:t>&lt;6</a:t>
            </a:r>
            <a:r>
              <a:rPr lang="zh-CN" altLang="en-US" sz="2400" b="1"/>
              <a:t>）、全缘或细齿；主脉被毛、锯齿规则或否、果实直径（</a:t>
            </a:r>
            <a:r>
              <a:rPr lang="en-US" altLang="zh-CN" sz="2400" b="1"/>
              <a:t>&gt;1.5</a:t>
            </a:r>
            <a:r>
              <a:rPr lang="zh-CN" altLang="en-US" sz="2400" b="1"/>
              <a:t>、</a:t>
            </a:r>
            <a:r>
              <a:rPr lang="en-US" altLang="zh-CN" sz="2400" b="1"/>
              <a:t>&lt;1</a:t>
            </a:r>
            <a:r>
              <a:rPr lang="zh-CN" altLang="en-US" sz="2400" b="1"/>
              <a:t>）</a:t>
            </a:r>
            <a:endParaRPr lang="zh-CN" altLang="en-US" sz="2400" b="1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 b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3050" y="1825625"/>
            <a:ext cx="11080750" cy="2484755"/>
          </a:xfrm>
        </p:spPr>
        <p:txBody>
          <a:bodyPr>
            <a:normAutofit fontScale="90000"/>
          </a:bodyPr>
          <a:p>
            <a:pPr fontAlgn="auto">
              <a:lnSpc>
                <a:spcPts val="3840"/>
              </a:lnSpc>
            </a:pPr>
            <a:r>
              <a:rPr lang="zh-CN" altLang="en-US" sz="3200" b="1"/>
              <a:t>桑</a:t>
            </a:r>
            <a:r>
              <a:rPr lang="en-US" altLang="zh-CN" sz="3200" b="1"/>
              <a:t> </a:t>
            </a:r>
            <a:r>
              <a:rPr lang="en-US" altLang="zh-CN" sz="3200" b="1" i="1"/>
              <a:t>Morus alba</a:t>
            </a:r>
            <a:r>
              <a:rPr lang="en-US" altLang="zh-CN" sz="3200" b="1"/>
              <a:t> L.</a:t>
            </a:r>
            <a:endParaRPr lang="en-US" altLang="zh-CN" sz="3200" b="1"/>
          </a:p>
          <a:p>
            <a:pPr fontAlgn="auto">
              <a:lnSpc>
                <a:spcPts val="3840"/>
              </a:lnSpc>
            </a:pPr>
            <a:r>
              <a:rPr lang="en-US" altLang="zh-CN" sz="3200">
                <a:sym typeface="+mn-ea"/>
              </a:rPr>
              <a:t>(1) </a:t>
            </a:r>
            <a:r>
              <a:rPr lang="zh-CN" altLang="en-US" sz="3200">
                <a:sym typeface="+mn-ea"/>
              </a:rPr>
              <a:t>雌花花柱极短或无</a:t>
            </a:r>
            <a:endParaRPr lang="zh-CN" altLang="en-US" sz="3200">
              <a:sym typeface="+mn-ea"/>
            </a:endParaRPr>
          </a:p>
          <a:p>
            <a:pPr fontAlgn="auto">
              <a:lnSpc>
                <a:spcPts val="3840"/>
              </a:lnSpc>
            </a:pPr>
            <a:r>
              <a:rPr lang="en-US" altLang="zh-CN" sz="3200"/>
              <a:t>(2) </a:t>
            </a:r>
            <a:r>
              <a:rPr lang="zh-CN" altLang="en-US" sz="3200">
                <a:sym typeface="+mn-ea"/>
              </a:rPr>
              <a:t>果序</a:t>
            </a:r>
            <a:r>
              <a:rPr lang="en-US" altLang="zh-CN" sz="3200">
                <a:sym typeface="+mn-ea"/>
              </a:rPr>
              <a:t>&lt;</a:t>
            </a:r>
            <a:r>
              <a:rPr lang="zh-CN" altLang="en-US" sz="3200">
                <a:sym typeface="+mn-ea"/>
              </a:rPr>
              <a:t>2.5</a:t>
            </a:r>
            <a:r>
              <a:rPr lang="en-US" altLang="zh-CN" sz="3200">
                <a:sym typeface="+mn-ea"/>
              </a:rPr>
              <a:t>cm</a:t>
            </a:r>
            <a:endParaRPr lang="zh-CN" altLang="en-US" sz="3200">
              <a:sym typeface="+mn-ea"/>
            </a:endParaRPr>
          </a:p>
          <a:p>
            <a:pPr fontAlgn="auto">
              <a:lnSpc>
                <a:spcPts val="3840"/>
              </a:lnSpc>
            </a:pPr>
            <a:r>
              <a:rPr lang="en-US" altLang="zh-CN" sz="3200"/>
              <a:t>(3) </a:t>
            </a:r>
            <a:r>
              <a:rPr lang="zh-CN" altLang="en-US" sz="3200">
                <a:sym typeface="+mn-ea"/>
              </a:rPr>
              <a:t>叶背面沿脉有疏毛，或脉腋有簇毛；或柱头具乳头状突起</a:t>
            </a:r>
            <a:endParaRPr lang="en-US" altLang="zh-CN" sz="32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6870" y="1825625"/>
            <a:ext cx="11600815" cy="2273935"/>
          </a:xfrm>
        </p:spPr>
        <p:txBody>
          <a:bodyPr/>
          <a:p>
            <a:pPr algn="l" fontAlgn="auto">
              <a:lnSpc>
                <a:spcPts val="3360"/>
              </a:lnSpc>
            </a:pPr>
            <a:r>
              <a:rPr lang="en-US" altLang="zh-CN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叶片小薄，叶长5-15厘米；成熟时果呈黑紫色，卵球形至椭圆形。（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桑，原变种，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Morus alba var. alba</a:t>
            </a:r>
            <a:r>
              <a:rPr lang="zh-CN" altLang="en-US" b="1">
                <a:sym typeface="+mn-ea"/>
              </a:rPr>
              <a:t>）</a:t>
            </a:r>
            <a:endParaRPr lang="zh-CN" altLang="en-US" b="1"/>
          </a:p>
          <a:p>
            <a:pPr algn="l" fontAlgn="auto">
              <a:lnSpc>
                <a:spcPts val="3360"/>
              </a:lnSpc>
            </a:pPr>
            <a:r>
              <a:rPr lang="en-US" altLang="zh-CN" b="1">
                <a:sym typeface="+mn-ea"/>
              </a:rPr>
              <a:t>1.</a:t>
            </a:r>
            <a:r>
              <a:rPr lang="zh-CN" altLang="en-US" b="1">
                <a:sym typeface="+mn-ea"/>
              </a:rPr>
              <a:t>叶片大厚，叶长可达30厘米；成熟时果呈白</a:t>
            </a:r>
            <a:r>
              <a:rPr lang="zh-CN" altLang="en-US" b="1">
                <a:sym typeface="+mn-ea"/>
              </a:rPr>
              <a:t>绿</a:t>
            </a:r>
            <a:r>
              <a:rPr lang="zh-CN" altLang="en-US" b="1">
                <a:sym typeface="+mn-ea"/>
              </a:rPr>
              <a:t>色至紫色，呈圆柱形（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鲁桑，</a:t>
            </a:r>
            <a:r>
              <a:rPr lang="en-US" altLang="zh-CN" b="1">
                <a:solidFill>
                  <a:srgbClr val="FF0000"/>
                </a:solidFill>
                <a:sym typeface="+mn-ea"/>
              </a:rPr>
              <a:t>Morus alba var. multicaulis</a:t>
            </a:r>
            <a:r>
              <a:rPr lang="zh-CN" altLang="en-US" b="1">
                <a:sym typeface="+mn-ea"/>
              </a:rPr>
              <a:t>）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185" y="3956050"/>
            <a:ext cx="2575560" cy="2511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6770" y="3956050"/>
            <a:ext cx="3789680" cy="247459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3906520"/>
            <a:ext cx="2473325" cy="2560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9492615" y="4190365"/>
            <a:ext cx="2561590" cy="199453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雌花花柱极短或缺失（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桑、华桑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2.</a:t>
            </a:r>
            <a:r>
              <a:rPr lang="zh-CN" altLang="en-US">
                <a:sym typeface="+mn-ea"/>
              </a:rPr>
              <a:t>叶片正面亮绿色，沿中脉疏被短柔毛，或中脉与一级侧脉脉腋具簇毛；柱头具乳突状突起</a:t>
            </a:r>
            <a:r>
              <a:rPr lang="en-US" altLang="zh-CN">
                <a:sym typeface="+mn-ea"/>
              </a:rPr>
              <a:t>....................................................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桑</a:t>
            </a:r>
            <a:endParaRPr lang="zh-CN" altLang="en-US">
              <a:solidFill>
                <a:srgbClr val="FF0000"/>
              </a:solidFill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2.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叶片正面粗糙，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背</a:t>
            </a:r>
            <a:r>
              <a:rPr lang="zh-CN" altLang="en-US">
                <a:sym typeface="+mn-ea"/>
              </a:rPr>
              <a:t>面密被白色或黄灰色柔毛</a:t>
            </a:r>
            <a:r>
              <a:rPr lang="en-US" altLang="zh-CN">
                <a:sym typeface="+mn-ea"/>
              </a:rPr>
              <a:t>.................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华桑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雌花花柱长而显著（</a:t>
            </a:r>
            <a:r>
              <a:rPr lang="zh-CN" altLang="en-US" b="1">
                <a:sym typeface="+mn-ea"/>
              </a:rPr>
              <a:t>蒙桑、鸡桑</a:t>
            </a:r>
            <a:r>
              <a:rPr lang="zh-CN" altLang="en-US">
                <a:sym typeface="+mn-ea"/>
              </a:rPr>
              <a:t>）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/>
              <a:t>  3.</a:t>
            </a:r>
            <a:r>
              <a:rPr lang="zh-CN" altLang="en-US">
                <a:sym typeface="+mn-ea"/>
              </a:rPr>
              <a:t>齿尖具</a:t>
            </a:r>
            <a:r>
              <a:rPr lang="zh-CN" altLang="en-US">
                <a:sym typeface="+mn-ea"/>
              </a:rPr>
              <a:t>长刺芒</a:t>
            </a:r>
            <a:r>
              <a:rPr lang="zh-CN" altLang="en-US">
                <a:sym typeface="+mn-ea"/>
              </a:rPr>
              <a:t>；柱头具乳头状突起</a:t>
            </a:r>
            <a:r>
              <a:rPr lang="en-US" altLang="zh-CN">
                <a:sym typeface="+mn-ea"/>
              </a:rPr>
              <a:t>........................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蒙桑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/>
              <a:t>  3.</a:t>
            </a:r>
            <a:r>
              <a:rPr lang="zh-CN" altLang="en-US">
                <a:sym typeface="+mn-ea"/>
              </a:rPr>
              <a:t>齿尖无长刺芒；柱头</a:t>
            </a:r>
            <a:r>
              <a:rPr lang="zh-CN" altLang="en-US"/>
              <a:t>背面被柔毛</a:t>
            </a:r>
            <a:r>
              <a:rPr lang="en-US" altLang="zh-CN">
                <a:sym typeface="+mn-ea"/>
              </a:rPr>
              <a:t>.......................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鸡桑</a:t>
            </a:r>
            <a:endParaRPr lang="zh-CN" altLang="en-US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ts val="3360"/>
              </a:lnSpc>
            </a:pPr>
            <a:r>
              <a:rPr lang="en-US" altLang="zh-CN"/>
              <a:t>1.</a:t>
            </a:r>
            <a:r>
              <a:rPr lang="zh-CN" altLang="en-US"/>
              <a:t>叶表面近光滑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2.</a:t>
            </a:r>
            <a:r>
              <a:rPr lang="zh-CN" altLang="en-US"/>
              <a:t>叶背面无毛，叶缘锯齿先端刺芒状</a:t>
            </a:r>
            <a:r>
              <a:rPr lang="en-US" altLang="zh-CN"/>
              <a:t>......................................</a:t>
            </a:r>
            <a:r>
              <a:rPr lang="zh-CN" altLang="en-US"/>
              <a:t>蒙桑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2.</a:t>
            </a:r>
            <a:r>
              <a:rPr lang="zh-CN" altLang="en-US"/>
              <a:t>叶背面叶脉上有疏毛或无毛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  3.</a:t>
            </a:r>
            <a:r>
              <a:rPr lang="zh-CN" altLang="en-US"/>
              <a:t>叶背面脉腋具簇毛，叶通常不分裂</a:t>
            </a:r>
            <a:r>
              <a:rPr lang="en-US" altLang="zh-CN">
                <a:sym typeface="+mn-ea"/>
              </a:rPr>
              <a:t>..........................................</a:t>
            </a:r>
            <a:r>
              <a:rPr lang="zh-CN" altLang="en-US">
                <a:sym typeface="+mn-ea"/>
              </a:rPr>
              <a:t>桑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>
                <a:sym typeface="+mn-ea"/>
              </a:rPr>
              <a:t> </a:t>
            </a:r>
            <a:r>
              <a:rPr lang="en-US" altLang="zh-CN">
                <a:sym typeface="+mn-ea"/>
              </a:rPr>
              <a:t>   3.</a:t>
            </a:r>
            <a:r>
              <a:rPr lang="zh-CN" altLang="en-US">
                <a:sym typeface="+mn-ea"/>
              </a:rPr>
              <a:t>叶背面脉上疏生短柔毛，脉腋无毛，叶常分裂</a:t>
            </a:r>
            <a:r>
              <a:rPr lang="en-US" altLang="zh-CN">
                <a:sym typeface="+mn-ea"/>
              </a:rPr>
              <a:t>.................</a:t>
            </a:r>
            <a:r>
              <a:rPr lang="zh-CN" altLang="en-US">
                <a:sym typeface="+mn-ea"/>
              </a:rPr>
              <a:t>鸡桑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叶表面粗糙，背面密生细柔毛</a:t>
            </a:r>
            <a:r>
              <a:rPr lang="en-US" altLang="zh-CN">
                <a:sym typeface="+mn-ea"/>
              </a:rPr>
              <a:t>.................................................</a:t>
            </a:r>
            <a:r>
              <a:rPr lang="zh-CN" altLang="en-US">
                <a:sym typeface="+mn-ea"/>
              </a:rPr>
              <a:t>华桑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119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795" y="1253490"/>
            <a:ext cx="11087735" cy="526288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en-US" altLang="zh-CN"/>
              <a:t>1.</a:t>
            </a:r>
            <a:r>
              <a:rPr lang="zh-CN" altLang="en-US"/>
              <a:t>不具枝刺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2.</a:t>
            </a:r>
            <a:r>
              <a:rPr lang="zh-CN" altLang="en-US"/>
              <a:t>雌、雄花序均为穗状花序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  3.</a:t>
            </a:r>
            <a:r>
              <a:rPr lang="zh-CN" altLang="en-US"/>
              <a:t>叶面粗糙，密生刚毛，叶背密生绒毛，雌雄同株异株</a:t>
            </a:r>
            <a:r>
              <a:rPr lang="en-US" altLang="zh-CN"/>
              <a:t>...</a:t>
            </a:r>
            <a:r>
              <a:rPr lang="zh-CN" altLang="en-US" b="1"/>
              <a:t>华桑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en-US" altLang="zh-CN" b="1"/>
              <a:t>    </a:t>
            </a:r>
            <a:r>
              <a:rPr lang="en-US" altLang="zh-CN"/>
              <a:t>3.</a:t>
            </a:r>
            <a:r>
              <a:rPr lang="zh-CN" altLang="en-US"/>
              <a:t>叶两面无毛或背面沿脉有疏毛，脉腋有簇毛，雌雄异株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    4.</a:t>
            </a:r>
            <a:r>
              <a:rPr lang="zh-CN" altLang="en-US"/>
              <a:t>叶卵形至卵圆形，</a:t>
            </a:r>
            <a:r>
              <a:rPr lang="zh-CN" altLang="en-US">
                <a:sym typeface="+mn-ea"/>
              </a:rPr>
              <a:t>背面沿脉有疏毛，脉腋有簇毛，花柱无柄</a:t>
            </a:r>
            <a:r>
              <a:rPr lang="en-US" altLang="zh-CN">
                <a:sym typeface="+mn-ea"/>
              </a:rPr>
              <a:t>..</a:t>
            </a:r>
            <a:r>
              <a:rPr lang="zh-CN" altLang="en-US" b="1">
                <a:sym typeface="+mn-ea"/>
              </a:rPr>
              <a:t>桑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      4.</a:t>
            </a:r>
            <a:r>
              <a:rPr lang="zh-CN" altLang="en-US">
                <a:sym typeface="+mn-ea"/>
              </a:rPr>
              <a:t>叶卵形至椭圆状卵形，叶背面</a:t>
            </a:r>
            <a:r>
              <a:rPr lang="zh-CN" altLang="en-US">
                <a:sym typeface="+mn-ea"/>
              </a:rPr>
              <a:t>脉腋无簇毛，花柱有柄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/>
              <a:t>         5.</a:t>
            </a:r>
            <a:r>
              <a:rPr lang="zh-CN" altLang="en-US"/>
              <a:t>叶椭圆状卵形，边缘锯齿有尖刺芒</a:t>
            </a:r>
            <a:r>
              <a:rPr lang="en-US" altLang="zh-CN"/>
              <a:t>.............</a:t>
            </a:r>
            <a:r>
              <a:rPr lang="en-US" altLang="zh-CN">
                <a:sym typeface="+mn-ea"/>
              </a:rPr>
              <a:t>........................</a:t>
            </a:r>
            <a:r>
              <a:rPr lang="en-US" altLang="zh-CN"/>
              <a:t>.</a:t>
            </a:r>
            <a:r>
              <a:rPr lang="zh-CN" altLang="en-US" b="1"/>
              <a:t>蒙桑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       5.</a:t>
            </a:r>
            <a:r>
              <a:rPr lang="zh-CN" altLang="en-US"/>
              <a:t>叶卵形，</a:t>
            </a:r>
            <a:r>
              <a:rPr lang="zh-CN" altLang="en-US">
                <a:sym typeface="+mn-ea"/>
              </a:rPr>
              <a:t>边缘锯齿无尖刺芒</a:t>
            </a:r>
            <a:r>
              <a:rPr lang="en-US" altLang="zh-CN">
                <a:sym typeface="+mn-ea"/>
              </a:rPr>
              <a:t>.............</a:t>
            </a:r>
            <a:r>
              <a:rPr lang="en-US" altLang="zh-CN">
                <a:sym typeface="+mn-ea"/>
              </a:rPr>
              <a:t>........................</a:t>
            </a:r>
            <a:r>
              <a:rPr lang="en-US" altLang="zh-CN">
                <a:sym typeface="+mn-ea"/>
              </a:rPr>
              <a:t>.</a:t>
            </a:r>
            <a:r>
              <a:rPr lang="zh-CN" altLang="en-US" b="1">
                <a:sym typeface="+mn-ea"/>
              </a:rPr>
              <a:t>鸡桑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1635" y="5915660"/>
            <a:ext cx="11198225" cy="521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 b="1"/>
              <a:t>李振国，河南省药检所，川黔产桑白皮的品种调查，中药材，</a:t>
            </a:r>
            <a:r>
              <a:rPr lang="en-US" altLang="zh-CN" sz="2800" b="1"/>
              <a:t>1991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635" y="1691005"/>
            <a:ext cx="11885930" cy="422275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en-US" altLang="zh-CN"/>
              <a:t> 2.</a:t>
            </a:r>
            <a:r>
              <a:rPr lang="zh-CN" altLang="en-US"/>
              <a:t>雌花序为葇荑花序，雌花序为头状花序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6.</a:t>
            </a:r>
            <a:r>
              <a:rPr lang="zh-CN" altLang="en-US"/>
              <a:t>乔木，叶宽卵形，叶柄长</a:t>
            </a:r>
            <a:r>
              <a:rPr lang="en-US" altLang="zh-CN"/>
              <a:t>3-5cm</a:t>
            </a:r>
            <a:r>
              <a:rPr lang="zh-CN" altLang="en-US"/>
              <a:t>，雌雄异株，聚花果直径</a:t>
            </a:r>
            <a:r>
              <a:rPr lang="en-US" altLang="zh-CN"/>
              <a:t>2-3cm.....</a:t>
            </a:r>
            <a:r>
              <a:rPr lang="zh-CN" altLang="en-US" b="1"/>
              <a:t>构树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  6.</a:t>
            </a:r>
            <a:r>
              <a:rPr lang="zh-CN" altLang="en-US"/>
              <a:t>灌木，叶卵状披针形，</a:t>
            </a:r>
            <a:r>
              <a:rPr lang="zh-CN" altLang="en-US">
                <a:sym typeface="+mn-ea"/>
              </a:rPr>
              <a:t>叶柄长</a:t>
            </a:r>
            <a:r>
              <a:rPr lang="en-US" altLang="zh-CN">
                <a:sym typeface="+mn-ea"/>
              </a:rPr>
              <a:t>0.5-1.5cm</a:t>
            </a:r>
            <a:r>
              <a:rPr lang="zh-CN" altLang="en-US">
                <a:sym typeface="+mn-ea"/>
              </a:rPr>
              <a:t>，雌雄同株，聚花果直径小于</a:t>
            </a:r>
            <a:r>
              <a:rPr lang="en-US" altLang="zh-CN">
                <a:sym typeface="+mn-ea"/>
              </a:rPr>
              <a:t> 1cm............................................................................................................</a:t>
            </a:r>
            <a:r>
              <a:rPr lang="zh-CN" altLang="en-US" b="1">
                <a:sym typeface="+mn-ea"/>
              </a:rPr>
              <a:t>小构树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en-US" altLang="zh-CN">
                <a:sym typeface="+mn-ea"/>
              </a:rPr>
              <a:t>1.</a:t>
            </a:r>
            <a:r>
              <a:rPr lang="zh-CN" altLang="en-US">
                <a:sym typeface="+mn-ea"/>
              </a:rPr>
              <a:t>植物体具刺</a:t>
            </a:r>
            <a:r>
              <a:rPr lang="en-US" altLang="zh-CN">
                <a:sym typeface="+mn-ea"/>
              </a:rPr>
              <a:t>.............................................................................</a:t>
            </a:r>
            <a:r>
              <a:rPr lang="zh-CN" altLang="en-US" b="1">
                <a:sym typeface="+mn-ea"/>
              </a:rPr>
              <a:t>柘树</a:t>
            </a:r>
            <a:endParaRPr lang="zh-CN" altLang="en-US" b="1">
              <a:sym typeface="+mn-ea"/>
            </a:endParaRPr>
          </a:p>
          <a:p>
            <a:pPr fontAlgn="auto">
              <a:lnSpc>
                <a:spcPts val="3360"/>
              </a:lnSpc>
            </a:pPr>
            <a:endParaRPr lang="zh-CN" altLang="en-US" b="1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区县年收购量大于</a:t>
            </a:r>
            <a:r>
              <a:rPr lang="en-US" altLang="zh-CN" b="1">
                <a:sym typeface="+mn-ea"/>
              </a:rPr>
              <a:t>1000</a:t>
            </a:r>
            <a:r>
              <a:rPr lang="zh-CN" altLang="en-US" b="1">
                <a:sym typeface="+mn-ea"/>
              </a:rPr>
              <a:t>公斤（蒙桑、华桑）；</a:t>
            </a:r>
            <a:r>
              <a:rPr lang="en-US" altLang="zh-CN" b="1">
                <a:sym typeface="+mn-ea"/>
              </a:rPr>
              <a:t>100-1000</a:t>
            </a:r>
            <a:r>
              <a:rPr lang="zh-CN" altLang="en-US" b="1">
                <a:sym typeface="+mn-ea"/>
              </a:rPr>
              <a:t>公斤（鸡桑）；</a:t>
            </a:r>
            <a:r>
              <a:rPr lang="en-US" altLang="zh-CN" b="1">
                <a:sym typeface="+mn-ea"/>
              </a:rPr>
              <a:t>100</a:t>
            </a:r>
            <a:r>
              <a:rPr lang="zh-CN" altLang="en-US" b="1">
                <a:sym typeface="+mn-ea"/>
              </a:rPr>
              <a:t>公斤以下（桑），构树（构树皮）和柘树（刺桑皮）混入</a:t>
            </a:r>
            <a:endParaRPr lang="zh-CN" altLang="en-US" b="1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27990" y="6102350"/>
            <a:ext cx="11198225" cy="52197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 b="1"/>
              <a:t>李振国，河南省药检所，川黔产桑白皮的品种调查，中药材，</a:t>
            </a:r>
            <a:r>
              <a:rPr lang="en-US" altLang="zh-CN" sz="2800" b="1"/>
              <a:t>1991</a:t>
            </a:r>
            <a:endParaRPr lang="en-US" altLang="zh-CN" sz="2800" b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与药材的鉴定：</a:t>
            </a:r>
            <a:r>
              <a:rPr lang="zh-CN" altLang="en-US"/>
              <a:t>提醒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860675"/>
          </a:xfrm>
        </p:spPr>
        <p:txBody>
          <a:bodyPr/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叶片分裂不能作为主要观察点，如白桑、蒙桑、鸡桑等都有分裂，仅仅多少而已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果实长短、直径；花柱有无是更稳定的特征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叶缘锯齿有芒刺是蒙桑稳定特征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叶背面进叶脉具毛，或主脉腋有簇毛是桑的基本特征</a:t>
            </a:r>
            <a:endParaRPr lang="zh-CN" altLang="en-US"/>
          </a:p>
          <a:p>
            <a:pPr marL="0" indent="0" fontAlgn="auto">
              <a:lnSpc>
                <a:spcPts val="3360"/>
              </a:lnSpc>
              <a:buFont typeface="Wingdings" panose="05000000000000000000" charset="0"/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75970" y="4989195"/>
            <a:ext cx="10537825" cy="52197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 b="1"/>
              <a:t>痛点：鉴别是个过程，用到花、果、叶，持续时间长，是动态鉴别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8520"/>
          </a:xfrm>
        </p:spPr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349885" y="1223645"/>
          <a:ext cx="10886440" cy="3495040"/>
        </p:xfrm>
        <a:graphic>
          <a:graphicData uri="http://schemas.openxmlformats.org/drawingml/2006/table">
            <a:tbl>
              <a:tblPr/>
              <a:tblGrid>
                <a:gridCol w="5610225"/>
                <a:gridCol w="5276215"/>
              </a:tblGrid>
              <a:tr h="0">
                <a:tc>
                  <a:txBody>
                    <a:bodyPr/>
                    <a:p>
                      <a:pPr indent="0" algn="ctr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桑属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ctr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构属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algn="l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叶</a:t>
                      </a: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不裂或不规则分裂，表面亮绿色，背面主脉有疏毛或脉腋有簇毛</a:t>
                      </a:r>
                      <a:endParaRPr lang="zh-CN" altLang="en-US" sz="2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叶掌状</a:t>
                      </a:r>
                      <a:r>
                        <a:rPr lang="en-US" altLang="zh-CN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3-5</a:t>
                      </a: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深裂，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叶面粗糙，叶背密被灰色绒毛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algn="l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雌雄花序均为穗状花序或葇荑花序</a:t>
                      </a:r>
                      <a:endParaRPr lang="zh-CN" altLang="en-US" sz="2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雄花序为穗状花序，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雌花序为头状花序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p>
                      <a:pPr indent="0" algn="l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聚花果长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椭圆形至圆柱形</a:t>
                      </a: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，成熟时多为紫黑色、红色或白色</a:t>
                      </a:r>
                      <a:endParaRPr lang="zh-CN" altLang="en-US" sz="2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indent="0" algn="l" fontAlgn="auto">
                        <a:lnSpc>
                          <a:spcPts val="336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聚花果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球形</a:t>
                      </a:r>
                      <a:r>
                        <a:rPr lang="zh-CN" altLang="en-US" sz="280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，成熟时橙红色或鲜红色</a:t>
                      </a:r>
                      <a:endParaRPr lang="zh-CN" altLang="en-US" sz="280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88900" marR="114300" marT="76200" marB="50800" anchor="ctr" anchorCtr="0">
                    <a:lnL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3175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070" y="4718685"/>
            <a:ext cx="1855470" cy="20466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5485" y="4743450"/>
            <a:ext cx="2106930" cy="20358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7360" y="4753610"/>
            <a:ext cx="279400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植物</a:t>
            </a:r>
            <a:r>
              <a:rPr lang="zh-CN" altLang="en-US" b="1">
                <a:sym typeface="+mn-ea"/>
              </a:rPr>
              <a:t>与药材的鉴定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ts val="3360"/>
              </a:lnSpc>
            </a:pPr>
            <a:r>
              <a:rPr lang="zh-CN" altLang="en-US" b="1"/>
              <a:t>结论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en-US" altLang="zh-CN" b="1"/>
              <a:t>1.</a:t>
            </a:r>
            <a:r>
              <a:rPr lang="zh-CN" altLang="en-US" b="1"/>
              <a:t>药用桑的基原标准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）野生白桑（</a:t>
            </a:r>
            <a:r>
              <a:rPr lang="en-US" altLang="zh-CN" i="1"/>
              <a:t>Morus alba</a:t>
            </a:r>
            <a:r>
              <a:rPr lang="en-US" altLang="zh-CN"/>
              <a:t> L.</a:t>
            </a:r>
            <a:r>
              <a:rPr lang="zh-CN" altLang="en-US"/>
              <a:t>）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zh-CN" altLang="en-US">
                <a:sym typeface="+mn-ea"/>
              </a:rPr>
              <a:t>野生</a:t>
            </a:r>
            <a:r>
              <a:rPr lang="zh-CN" altLang="en-US"/>
              <a:t>白桑引种栽培：可</a:t>
            </a:r>
            <a:r>
              <a:rPr lang="zh-CN" altLang="en-US" b="1"/>
              <a:t>系统选育</a:t>
            </a:r>
            <a:r>
              <a:rPr lang="zh-CN" altLang="en-US"/>
              <a:t>育种，不杂交育种、不辐射育种、不生物技术育种，保持野生特征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 b="1"/>
              <a:t>2.</a:t>
            </a:r>
            <a:r>
              <a:rPr lang="zh-CN" altLang="en-US" b="1"/>
              <a:t>选育的蚕桑品种、饲料品种、菜用品种等归入植物学</a:t>
            </a:r>
            <a:r>
              <a:rPr lang="zh-CN" altLang="en-US">
                <a:sym typeface="+mn-ea"/>
              </a:rPr>
              <a:t>白桑（</a:t>
            </a:r>
            <a:r>
              <a:rPr lang="en-US" altLang="zh-CN" i="1">
                <a:sym typeface="+mn-ea"/>
              </a:rPr>
              <a:t>Morus alba</a:t>
            </a:r>
            <a:r>
              <a:rPr lang="en-US" altLang="zh-CN">
                <a:sym typeface="+mn-ea"/>
              </a:rPr>
              <a:t> L.</a:t>
            </a:r>
            <a:r>
              <a:rPr lang="zh-CN" altLang="en-US">
                <a:sym typeface="+mn-ea"/>
              </a:rPr>
              <a:t>）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en-US" altLang="zh-CN" b="1"/>
              <a:t>3.</a:t>
            </a:r>
            <a:r>
              <a:rPr lang="zh-CN" altLang="en-US" b="1"/>
              <a:t>桑白皮出现的所有问题都可归结为对新品种的认识</a:t>
            </a:r>
            <a:endParaRPr lang="zh-CN" altLang="en-US" b="1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p>
            <a:r>
              <a:rPr lang="zh-CN" altLang="en-US" b="1">
                <a:solidFill>
                  <a:schemeClr val="tx1"/>
                </a:solidFill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olidFill>
                  <a:schemeClr val="tx1"/>
                </a:solidFill>
                <a:sym typeface="+mn-ea"/>
              </a:rPr>
              <a:t>的鉴定</a:t>
            </a:r>
            <a:endParaRPr lang="zh-CN" altLang="en-US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3430" y="1223010"/>
            <a:ext cx="10515600" cy="2468880"/>
          </a:xfrm>
          <a:solidFill>
            <a:schemeClr val="bg2">
              <a:lumMod val="90000"/>
            </a:schemeClr>
          </a:solidFill>
        </p:spPr>
        <p:txBody>
          <a:bodyPr/>
          <a:p>
            <a:pPr fontAlgn="auto">
              <a:lnSpc>
                <a:spcPts val="3360"/>
              </a:lnSpc>
            </a:pPr>
            <a:r>
              <a:rPr lang="zh-CN" altLang="en-US"/>
              <a:t>本品呈扭曲的卷筒状、槽状或板片状，长短宽窄不一，</a:t>
            </a:r>
            <a:r>
              <a:rPr lang="zh-CN" altLang="en-US" b="1"/>
              <a:t>厚1～4</a:t>
            </a:r>
            <a:r>
              <a:rPr lang="en-US" altLang="zh-CN" b="1"/>
              <a:t>mm。</a:t>
            </a:r>
            <a:r>
              <a:rPr lang="zh-CN" altLang="en-US" b="1"/>
              <a:t>外表面</a:t>
            </a:r>
            <a:r>
              <a:rPr lang="zh-CN" altLang="en-US"/>
              <a:t>白色或淡黄白色，较平坦，有的残留橙黄色或棕黄色鳞片状粗皮；</a:t>
            </a:r>
            <a:r>
              <a:rPr lang="zh-CN" altLang="en-US" b="1"/>
              <a:t>内表面</a:t>
            </a:r>
            <a:r>
              <a:rPr lang="zh-CN" altLang="en-US"/>
              <a:t>黄白色或灰黄色，有细纵纹。体轻，</a:t>
            </a:r>
            <a:r>
              <a:rPr lang="zh-CN" altLang="en-US" b="1"/>
              <a:t>质</a:t>
            </a:r>
            <a:r>
              <a:rPr lang="zh-CN" altLang="en-US"/>
              <a:t>韧，纤维性强，难折断，易纵向撕裂，撕裂时有粉尘飞扬。</a:t>
            </a:r>
            <a:r>
              <a:rPr lang="zh-CN" altLang="en-US" b="1"/>
              <a:t>气</a:t>
            </a:r>
            <a:r>
              <a:rPr lang="zh-CN" altLang="en-US"/>
              <a:t>微，</a:t>
            </a:r>
            <a:r>
              <a:rPr lang="zh-CN" altLang="en-US" b="1"/>
              <a:t>味</a:t>
            </a:r>
            <a:r>
              <a:rPr lang="zh-CN" altLang="en-US"/>
              <a:t>微甘。</a:t>
            </a:r>
            <a:endParaRPr lang="zh-CN" altLang="en-US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773430" y="3691890"/>
            <a:ext cx="10515600" cy="15113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ts val="3360"/>
              </a:lnSpc>
            </a:pPr>
            <a:r>
              <a:rPr lang="zh-CN" altLang="en-US"/>
              <a:t>本品呈丝条状，</a:t>
            </a:r>
            <a:r>
              <a:rPr lang="zh-CN" altLang="en-US" b="1"/>
              <a:t>外表面</a:t>
            </a:r>
            <a:r>
              <a:rPr lang="zh-CN" altLang="en-US"/>
              <a:t>白色或淡黄白色，有的残留橙黄色或棕黄色鳞片状粗皮；</a:t>
            </a:r>
            <a:r>
              <a:rPr lang="zh-CN" altLang="en-US" b="1"/>
              <a:t>内表面</a:t>
            </a:r>
            <a:r>
              <a:rPr lang="zh-CN" altLang="en-US"/>
              <a:t>黄白色或灰黄色，有细纵纹。体轻，</a:t>
            </a:r>
            <a:r>
              <a:rPr lang="zh-CN" altLang="en-US" b="1"/>
              <a:t>质</a:t>
            </a:r>
            <a:r>
              <a:rPr lang="zh-CN" altLang="en-US"/>
              <a:t>韧，纤维性强。</a:t>
            </a:r>
            <a:r>
              <a:rPr lang="zh-CN" altLang="en-US" b="1"/>
              <a:t>气</a:t>
            </a:r>
            <a:r>
              <a:rPr lang="zh-CN" altLang="en-US"/>
              <a:t>微，</a:t>
            </a:r>
            <a:r>
              <a:rPr lang="zh-CN" altLang="en-US" b="1"/>
              <a:t>味</a:t>
            </a:r>
            <a:r>
              <a:rPr lang="zh-CN" altLang="en-US"/>
              <a:t>微甘。</a:t>
            </a:r>
            <a:endParaRPr lang="zh-CN" altLang="en-US"/>
          </a:p>
        </p:txBody>
      </p:sp>
      <p:sp>
        <p:nvSpPr>
          <p:cNvPr id="5" name="内容占位符 2"/>
          <p:cNvSpPr>
            <a:spLocks noGrp="1"/>
          </p:cNvSpPr>
          <p:nvPr/>
        </p:nvSpPr>
        <p:spPr>
          <a:xfrm>
            <a:off x="773430" y="5210175"/>
            <a:ext cx="10740390" cy="1511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ts val="3360"/>
              </a:lnSpc>
            </a:pPr>
            <a:r>
              <a:rPr lang="zh-CN" altLang="en-US"/>
              <a:t>本品呈不规则的丝条状。</a:t>
            </a:r>
            <a:r>
              <a:rPr lang="zh-CN" altLang="en-US" b="1"/>
              <a:t>表面</a:t>
            </a:r>
            <a:r>
              <a:rPr lang="zh-CN" altLang="en-US"/>
              <a:t>深黄色或棕黄色，略具光泽，滋润，纤维性强，易纵向撕裂。</a:t>
            </a:r>
            <a:r>
              <a:rPr lang="zh-CN" altLang="en-US" b="1"/>
              <a:t>气</a:t>
            </a:r>
            <a:r>
              <a:rPr lang="zh-CN" altLang="en-US"/>
              <a:t>微，</a:t>
            </a:r>
            <a:r>
              <a:rPr lang="zh-CN" altLang="en-US" b="1"/>
              <a:t>味</a:t>
            </a:r>
            <a:r>
              <a:rPr lang="zh-CN" altLang="en-US"/>
              <a:t>甜。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931545" y="6146800"/>
            <a:ext cx="10343515" cy="521970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1"/>
                </a:solidFill>
              </a:rPr>
              <a:t>痛点：和植物鉴定相比，伪品不固定，系统鉴定资料缺</a:t>
            </a:r>
            <a:endParaRPr lang="zh-CN" alt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/>
              <a:t>有报道的伪品名录</a:t>
            </a:r>
            <a:endParaRPr lang="en-US" altLang="zh-CN" b="1"/>
          </a:p>
          <a:p>
            <a:r>
              <a:rPr lang="en-US" altLang="zh-CN" b="1"/>
              <a:t>1.</a:t>
            </a:r>
            <a:r>
              <a:rPr lang="zh-CN" altLang="en-US" b="1"/>
              <a:t>桑科</a:t>
            </a:r>
            <a:endParaRPr lang="zh-CN" altLang="en-US" b="1"/>
          </a:p>
          <a:p>
            <a:r>
              <a:rPr lang="zh-CN" altLang="en-US" b="1"/>
              <a:t>（</a:t>
            </a:r>
            <a:r>
              <a:rPr lang="en-US" altLang="zh-CN" b="1"/>
              <a:t>1</a:t>
            </a:r>
            <a:r>
              <a:rPr lang="zh-CN" altLang="en-US" b="1"/>
              <a:t>）桑属</a:t>
            </a:r>
            <a:r>
              <a:rPr lang="zh-CN" altLang="en-US"/>
              <a:t>：蒙桑、鸡桑、华桑、黑桑、川桑</a:t>
            </a:r>
            <a:endParaRPr lang="zh-CN" altLang="en-US"/>
          </a:p>
          <a:p>
            <a:r>
              <a:rPr lang="zh-CN" altLang="en-US" b="1"/>
              <a:t>（</a:t>
            </a:r>
            <a:r>
              <a:rPr lang="en-US" altLang="zh-CN" b="1"/>
              <a:t>2</a:t>
            </a:r>
            <a:r>
              <a:rPr lang="zh-CN" altLang="en-US" b="1"/>
              <a:t>）构属</a:t>
            </a:r>
            <a:r>
              <a:rPr lang="zh-CN" altLang="en-US"/>
              <a:t>：构树、小构树</a:t>
            </a:r>
            <a:endParaRPr lang="zh-CN" altLang="en-US"/>
          </a:p>
          <a:p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）橙桑属</a:t>
            </a:r>
            <a:r>
              <a:rPr lang="en-US" altLang="zh-CN" b="1"/>
              <a:t>Maclura</a:t>
            </a:r>
            <a:r>
              <a:rPr lang="zh-CN" altLang="en-US" b="1"/>
              <a:t>（柘属</a:t>
            </a:r>
            <a:r>
              <a:rPr lang="en-US" altLang="zh-CN" b="1"/>
              <a:t>Cudrania</a:t>
            </a:r>
            <a:r>
              <a:rPr lang="zh-CN" altLang="en-US" b="1"/>
              <a:t>）</a:t>
            </a:r>
            <a:r>
              <a:rPr lang="zh-CN" altLang="en-US"/>
              <a:t>：柘、构棘</a:t>
            </a:r>
            <a:endParaRPr lang="zh-CN" altLang="en-US"/>
          </a:p>
          <a:p>
            <a:r>
              <a:rPr lang="zh-CN" altLang="en-US" b="1"/>
              <a:t>2.楝</a:t>
            </a:r>
            <a:r>
              <a:rPr lang="en-US" altLang="zh-CN" b="1"/>
              <a:t>    </a:t>
            </a:r>
            <a:r>
              <a:rPr lang="zh-CN" altLang="en-US" b="1"/>
              <a:t>科</a:t>
            </a:r>
            <a:r>
              <a:rPr lang="zh-CN" altLang="en-US"/>
              <a:t>：苦楝</a:t>
            </a:r>
            <a:endParaRPr lang="zh-CN" altLang="en-US"/>
          </a:p>
          <a:p>
            <a:r>
              <a:rPr lang="zh-CN" altLang="en-US" b="1"/>
              <a:t>3.五加科</a:t>
            </a:r>
            <a:r>
              <a:rPr lang="zh-CN" altLang="en-US"/>
              <a:t>：刺五加</a:t>
            </a:r>
            <a:endParaRPr lang="zh-CN" altLang="en-US"/>
          </a:p>
          <a:p>
            <a:r>
              <a:rPr lang="zh-CN" altLang="en-US" b="1"/>
              <a:t>4.豆</a:t>
            </a:r>
            <a:r>
              <a:rPr lang="en-US" altLang="zh-CN" b="1"/>
              <a:t>    </a:t>
            </a:r>
            <a:r>
              <a:rPr lang="zh-CN" altLang="en-US" b="1"/>
              <a:t>科</a:t>
            </a:r>
            <a:r>
              <a:rPr lang="zh-CN" altLang="en-US"/>
              <a:t>：肥皂角</a:t>
            </a:r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6385" y="365125"/>
            <a:ext cx="11743055" cy="456565"/>
          </a:xfrm>
        </p:spPr>
        <p:txBody>
          <a:bodyPr>
            <a:normAutofit fontScale="90000"/>
          </a:bodyPr>
          <a:p>
            <a:r>
              <a:rPr lang="zh-CN" altLang="en-US" sz="3555" b="1">
                <a:sym typeface="+mn-ea"/>
              </a:rPr>
              <a:t>六、桑白皮原植物与</a:t>
            </a:r>
            <a:r>
              <a:rPr lang="zh-CN" altLang="en-US" sz="3555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sz="3555" b="1">
                <a:sym typeface="+mn-ea"/>
              </a:rPr>
              <a:t>的鉴定</a:t>
            </a:r>
            <a:endParaRPr lang="zh-CN" altLang="en-US" sz="3555"/>
          </a:p>
        </p:txBody>
      </p:sp>
      <p:graphicFrame>
        <p:nvGraphicFramePr>
          <p:cNvPr id="4" name="表格 3"/>
          <p:cNvGraphicFramePr/>
          <p:nvPr/>
        </p:nvGraphicFramePr>
        <p:xfrm>
          <a:off x="478155" y="1045845"/>
          <a:ext cx="11357610" cy="536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6150"/>
                <a:gridCol w="3876040"/>
                <a:gridCol w="399542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桑白皮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构树皮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柘树皮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片状扭曲，厚</a:t>
                      </a:r>
                      <a:r>
                        <a:rPr lang="en-US" altLang="zh-CN" sz="2400"/>
                        <a:t>1-5mm</a:t>
                      </a:r>
                      <a:endParaRPr lang="en-US" altLang="zh-CN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筒状扭曲，两边内卷，厚</a:t>
                      </a:r>
                      <a:r>
                        <a:rPr lang="en-US" altLang="zh-CN" sz="2400"/>
                        <a:t>1.5mm</a:t>
                      </a:r>
                      <a:r>
                        <a:rPr lang="zh-CN" altLang="en-US" sz="2400"/>
                        <a:t>左右（</a:t>
                      </a:r>
                      <a:r>
                        <a:rPr lang="en-US" altLang="zh-CN" sz="2400">
                          <a:solidFill>
                            <a:srgbClr val="FF0000"/>
                          </a:solidFill>
                        </a:rPr>
                        <a:t>0.5-2.5mm</a:t>
                      </a:r>
                      <a:r>
                        <a:rPr lang="zh-CN" altLang="en-US" sz="2400"/>
                        <a:t>）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片状扭曲，两边内卷，厚</a:t>
                      </a:r>
                      <a:r>
                        <a:rPr lang="en-US" altLang="zh-CN" sz="2400"/>
                        <a:t>1-2.5mm</a:t>
                      </a:r>
                      <a:endParaRPr lang="en-US" altLang="zh-CN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外表面淡黄白色，残留</a:t>
                      </a:r>
                      <a:r>
                        <a:rPr lang="zh-CN" altLang="en-US" sz="2400" b="1"/>
                        <a:t>棕黄色或红黄色栓皮</a:t>
                      </a:r>
                      <a:r>
                        <a:rPr lang="zh-CN" altLang="en-US" sz="2400"/>
                        <a:t>，有纵向细纹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外表面</a:t>
                      </a:r>
                      <a:r>
                        <a:rPr lang="zh-CN" altLang="en-US" sz="2400"/>
                        <a:t>白色，残留</a:t>
                      </a:r>
                      <a:r>
                        <a:rPr lang="zh-CN" altLang="en-US" sz="2400" b="1"/>
                        <a:t>黄淡褐色栓皮</a:t>
                      </a:r>
                      <a:endParaRPr lang="zh-CN" altLang="en-US" sz="2400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外表面</a:t>
                      </a:r>
                      <a:r>
                        <a:rPr lang="zh-CN" altLang="en-US" sz="2400"/>
                        <a:t>粗糙淡白色，残留</a:t>
                      </a:r>
                      <a:r>
                        <a:rPr lang="zh-CN" altLang="en-US" sz="2400" b="1"/>
                        <a:t>橙黄色栓皮</a:t>
                      </a:r>
                      <a:r>
                        <a:rPr lang="zh-CN" altLang="en-US" sz="2400"/>
                        <a:t>，具横向皱纹及颗粒突起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内表皮灰黄白色，粗纤维状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淡黄，光滑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灰白色，有</a:t>
                      </a:r>
                      <a:r>
                        <a:rPr lang="zh-CN" altLang="en-US" sz="2400">
                          <a:solidFill>
                            <a:srgbClr val="FF0000"/>
                          </a:solidFill>
                        </a:rPr>
                        <a:t>侧根痕穿孔</a:t>
                      </a:r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12065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体轻质韧，断面纤维性强，极易纵向撕裂，并有白色粉末飞出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体轻质韧，断面纤维性较强，</a:t>
                      </a:r>
                      <a:r>
                        <a:rPr lang="zh-CN" altLang="en-US" sz="2400" b="1">
                          <a:sym typeface="+mn-ea"/>
                        </a:rPr>
                        <a:t>易纵向片层状撕裂</a:t>
                      </a:r>
                      <a:r>
                        <a:rPr lang="zh-CN" altLang="en-US" sz="2400">
                          <a:sym typeface="+mn-ea"/>
                        </a:rPr>
                        <a:t>，有白色粉末飞出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>
                          <a:sym typeface="+mn-ea"/>
                        </a:rPr>
                        <a:t>体轻质韧，断面略带纤维性，纵向撕裂常</a:t>
                      </a:r>
                      <a:r>
                        <a:rPr lang="zh-CN" altLang="en-US" sz="2400" b="1">
                          <a:sym typeface="+mn-ea"/>
                        </a:rPr>
                        <a:t>中途断裂</a:t>
                      </a:r>
                      <a:r>
                        <a:rPr lang="zh-CN" altLang="en-US" sz="2400">
                          <a:sym typeface="+mn-ea"/>
                        </a:rPr>
                        <a:t>，有白色粉末飞出</a:t>
                      </a:r>
                      <a:endParaRPr lang="zh-CN" altLang="en-US" sz="2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/>
                        <a:t>豆腥味浓</a:t>
                      </a:r>
                      <a:r>
                        <a:rPr lang="zh-CN" altLang="en-US" sz="2400"/>
                        <a:t>，味甘微苦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/>
                        <a:t>气微，味淡（</a:t>
                      </a:r>
                      <a:r>
                        <a:rPr lang="zh-CN" altLang="en-US" sz="2400">
                          <a:solidFill>
                            <a:srgbClr val="FF0000"/>
                          </a:solidFill>
                        </a:rPr>
                        <a:t>味苦</a:t>
                      </a:r>
                      <a:r>
                        <a:rPr lang="zh-CN" altLang="en-US" sz="2400"/>
                        <a:t>）</a:t>
                      </a:r>
                      <a:endParaRPr lang="zh-CN" altLang="en-US" sz="2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/>
                        <a:t>略有豆腥味</a:t>
                      </a:r>
                      <a:r>
                        <a:rPr lang="zh-CN" altLang="en-US" sz="2400"/>
                        <a:t>，味微</a:t>
                      </a:r>
                      <a:r>
                        <a:rPr lang="zh-CN" altLang="en-US" sz="2400" b="1"/>
                        <a:t>苦涩</a:t>
                      </a:r>
                      <a:endParaRPr lang="zh-CN" altLang="en-US" sz="2400" b="1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>
                <a:sym typeface="+mn-ea"/>
              </a:rPr>
              <a:t>桑白皮：伪品药材</a:t>
            </a:r>
            <a:endParaRPr lang="zh-CN" altLang="en-US" b="1"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28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24790" y="975360"/>
          <a:ext cx="11845925" cy="5278120"/>
        </p:xfrm>
        <a:graphic>
          <a:graphicData uri="http://schemas.openxmlformats.org/drawingml/2006/table">
            <a:tbl>
              <a:tblPr/>
              <a:tblGrid>
                <a:gridCol w="1656080"/>
                <a:gridCol w="10189845"/>
              </a:tblGrid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纤维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甚多，多碎断，直径13～26μm，壁厚，非木化至微木化。草酸钙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方晶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直径11～32μm。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石细胞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类圆形、类方形或形状不规则，直径22～52μm，壁较厚或极厚，纹孔和孔沟明显，胞腔内有的含方晶。另有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含晶厚壁细胞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。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淀粉粒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甚多，单粒类圆形，直径4～16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μm；复粒由2～8分粒组成。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构树根皮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纤维多见，单个或成束，</a:t>
                      </a:r>
                      <a:r>
                        <a:rPr lang="zh-CN" altLang="en-US" sz="280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sym typeface="+mn-ea"/>
                        </a:rPr>
                        <a:t>非木化至微木化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；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簇晶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，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偶见方晶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；石细胞较少，</a:t>
                      </a:r>
                      <a:r>
                        <a:rPr lang="zh-CN" altLang="en-US" sz="280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sym typeface="+mn-ea"/>
                        </a:rPr>
                        <a:t>纹孔和孔沟明显；淀粉粒众多；木栓细胞可见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柘树根皮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纤维单个或成束，壁厚，不木化；方晶；石细胞单个或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2-3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宋体" panose="02010600030101010101" pitchFamily="2" charset="-122"/>
                        </a:rPr>
                        <a:t>个成群；壁厚，</a:t>
                      </a:r>
                      <a:r>
                        <a:rPr lang="zh-CN" altLang="en-US" sz="280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sym typeface="+mn-ea"/>
                        </a:rPr>
                        <a:t>，纹孔和孔沟明显；淀粉粒众多；</a:t>
                      </a:r>
                      <a:r>
                        <a:rPr lang="zh-CN" altLang="en-US" sz="2800" b="1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  <a:sym typeface="+mn-ea"/>
                        </a:rPr>
                        <a:t>分泌组织</a:t>
                      </a:r>
                      <a:r>
                        <a:rPr lang="zh-CN" altLang="en-US" sz="280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  <a:sym typeface="+mn-ea"/>
                        </a:rPr>
                        <a:t>；木栓细胞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宋体" panose="02010600030101010101" pitchFamily="2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03835" y="5810250"/>
            <a:ext cx="11866245" cy="8299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zh-CN" altLang="en-US" sz="2400"/>
              <a:t>河北药检所，桑白皮伪品构树皮的生药鉴定；桑白皮伪品刺桑皮的生药鉴定，中药材，</a:t>
            </a:r>
            <a:r>
              <a:rPr lang="en-US" altLang="zh-CN" sz="2400"/>
              <a:t>1994</a:t>
            </a:r>
            <a:endParaRPr lang="en-US" altLang="zh-CN" sz="24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9450" y="1301750"/>
            <a:ext cx="3740150" cy="44405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8075" y="1233805"/>
            <a:ext cx="4083050" cy="45085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03835" y="5810250"/>
            <a:ext cx="11866245" cy="8299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l"/>
            <a:r>
              <a:rPr lang="zh-CN" altLang="en-US" sz="2400"/>
              <a:t>河北药检所，桑白皮伪品构树皮的生药鉴定；桑白皮伪品刺桑皮的生药鉴定，中药材，</a:t>
            </a:r>
            <a:r>
              <a:rPr lang="en-US" altLang="zh-CN" sz="2400"/>
              <a:t>1994</a:t>
            </a:r>
            <a:endParaRPr lang="en-US" altLang="zh-CN" sz="24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28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224790" y="975360"/>
          <a:ext cx="11845925" cy="5278120"/>
        </p:xfrm>
        <a:graphic>
          <a:graphicData uri="http://schemas.openxmlformats.org/drawingml/2006/table">
            <a:tbl>
              <a:tblPr/>
              <a:tblGrid>
                <a:gridCol w="1656080"/>
                <a:gridCol w="10189845"/>
              </a:tblGrid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纤维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甚多，多碎断，直径13～26μm，壁厚，非木化至微木化。草酸钙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方晶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直径11～32μm。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石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细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胞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类圆形、类方形或形状不规则，直径22～52μm，壁较厚或极厚，纹孔和孔沟明显，胞腔内有的含方晶。另有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含晶厚壁细胞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。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淀粉粒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甚多，单粒类圆形，直径4～16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μm；复粒由2～8分粒组成。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构树根皮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淀粉粒众多；具簇晶和方晶；韧皮纤维众多；散在或成束；导管偶见；乳汁管少见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柘树根皮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宋体" panose="02010600030101010101" pitchFamily="2" charset="-122"/>
                        </a:rPr>
                        <a:t>淀粉粒；方晶；韧皮纤维散在或成束，</a:t>
                      </a:r>
                      <a:r>
                        <a:rPr lang="zh-CN" altLang="en-US" sz="2800" b="1" i="0">
                          <a:solidFill>
                            <a:srgbClr val="FF0000"/>
                          </a:solidFill>
                          <a:latin typeface="ui-sans-serif"/>
                          <a:ea typeface="宋体" panose="02010600030101010101" pitchFamily="2" charset="-122"/>
                        </a:rPr>
                        <a:t>成束时可见含晶纤维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宋体" panose="02010600030101010101" pitchFamily="2" charset="-122"/>
                        </a:rPr>
                        <a:t>；石细胞散在或成群；乳汁管偶见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宋体" panose="02010600030101010101" pitchFamily="2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03835" y="5810250"/>
            <a:ext cx="1186624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sz="2400"/>
              <a:t>金华卫校，浙江桑白皮及混淆品的鉴别；中药通报，</a:t>
            </a:r>
            <a:r>
              <a:rPr lang="en-US" altLang="zh-CN" sz="2400"/>
              <a:t>1983</a:t>
            </a:r>
            <a:endParaRPr lang="en-US" altLang="zh-CN" sz="24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183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236345"/>
            <a:ext cx="2921000" cy="4108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60" y="1236345"/>
            <a:ext cx="4154170" cy="4352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150" y="1377950"/>
            <a:ext cx="3234055" cy="41021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37565" y="5608955"/>
            <a:ext cx="107270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桑白皮</a:t>
            </a:r>
            <a:r>
              <a:rPr lang="en-US" altLang="zh-CN" sz="2800" b="1"/>
              <a:t>                                       </a:t>
            </a:r>
            <a:r>
              <a:rPr lang="zh-CN" altLang="en-US" sz="2800" b="1"/>
              <a:t>构白皮</a:t>
            </a:r>
            <a:r>
              <a:rPr lang="en-US" altLang="zh-CN" sz="2800" b="1"/>
              <a:t>                                    </a:t>
            </a:r>
            <a:r>
              <a:rPr lang="zh-CN" altLang="en-US" sz="2800" b="1"/>
              <a:t>柘白皮</a:t>
            </a:r>
            <a:endParaRPr lang="zh-CN" altLang="en-US" sz="2800" b="1"/>
          </a:p>
        </p:txBody>
      </p:sp>
      <p:sp>
        <p:nvSpPr>
          <p:cNvPr id="3" name="文本框 2"/>
          <p:cNvSpPr txBox="1"/>
          <p:nvPr/>
        </p:nvSpPr>
        <p:spPr>
          <a:xfrm>
            <a:off x="203835" y="6273800"/>
            <a:ext cx="11866245" cy="4603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sz="2400"/>
              <a:t>金华卫校，浙江桑白皮及混淆品的鉴别；中药通报，</a:t>
            </a:r>
            <a:r>
              <a:rPr lang="en-US" altLang="zh-CN" sz="2400"/>
              <a:t>1983</a:t>
            </a:r>
            <a:endParaRPr lang="en-US" altLang="zh-CN"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4335" y="1520825"/>
            <a:ext cx="7521575" cy="4656455"/>
          </a:xfrm>
        </p:spPr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zh-CN" altLang="en-US">
                <a:sym typeface="+mn-ea"/>
              </a:rPr>
              <a:t>本品呈半筒状，两边内卷，长短宽窄不一，厚1～1 .8 </a:t>
            </a:r>
            <a:r>
              <a:rPr lang="en-US" altLang="zh-CN">
                <a:sym typeface="+mn-ea"/>
              </a:rPr>
              <a:t>mm．</a:t>
            </a:r>
            <a:r>
              <a:rPr lang="zh-CN" altLang="en-US">
                <a:sym typeface="+mn-ea"/>
              </a:rPr>
              <a:t>栓皮桔黄色，成层脱落菲薄，外表面</a:t>
            </a:r>
            <a:r>
              <a:rPr lang="zh-CN" altLang="en-US" b="1">
                <a:sym typeface="+mn-ea"/>
              </a:rPr>
              <a:t>橙黄色</a:t>
            </a:r>
            <a:r>
              <a:rPr lang="zh-CN" altLang="en-US">
                <a:sym typeface="+mn-ea"/>
              </a:rPr>
              <a:t>，具细纵皱纹，皮孔横向，线形；除净栓皮者为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黄白色</a:t>
            </a:r>
            <a:r>
              <a:rPr lang="zh-CN" altLang="en-US">
                <a:sym typeface="+mn-ea"/>
              </a:rPr>
              <a:t>，内表面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棕黄色</a:t>
            </a:r>
            <a:r>
              <a:rPr lang="zh-CN" altLang="en-US">
                <a:sym typeface="+mn-ea"/>
              </a:rPr>
              <a:t>，具极细的纵纹，体轻，质韧，具纤维性，较难折断，易纵向撕裂，撕裂时有粉尘飞扬．气微，味淡</a:t>
            </a:r>
            <a:endParaRPr lang="zh-CN" altLang="en-US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 b="1">
                <a:solidFill>
                  <a:srgbClr val="FF0000"/>
                </a:solidFill>
              </a:rPr>
              <a:t>纤维及晶纤维</a:t>
            </a:r>
            <a:r>
              <a:rPr lang="zh-CN" altLang="en-US"/>
              <a:t>较多，淡黄色，非木化；</a:t>
            </a:r>
            <a:r>
              <a:rPr lang="zh-CN" altLang="en-US" b="1"/>
              <a:t>石细胞</a:t>
            </a:r>
            <a:r>
              <a:rPr lang="zh-CN" altLang="en-US"/>
              <a:t>散在或数个连接，黄色，有的含方晶；</a:t>
            </a:r>
            <a:r>
              <a:rPr lang="zh-CN" altLang="en-US" b="1"/>
              <a:t>方晶</a:t>
            </a:r>
            <a:r>
              <a:rPr lang="zh-CN" altLang="en-US"/>
              <a:t>较多；</a:t>
            </a:r>
            <a:r>
              <a:rPr lang="zh-CN" altLang="en-US" b="1"/>
              <a:t>乳汁管</a:t>
            </a:r>
            <a:r>
              <a:rPr lang="zh-CN" altLang="en-US"/>
              <a:t>较多；</a:t>
            </a:r>
            <a:r>
              <a:rPr lang="zh-CN" altLang="en-US" b="1"/>
              <a:t>淀粉粒</a:t>
            </a:r>
            <a:r>
              <a:rPr lang="zh-CN" altLang="en-US"/>
              <a:t>众多；木栓细胞可见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442085"/>
            <a:ext cx="3841750" cy="4944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03835" y="6273800"/>
            <a:ext cx="11866245" cy="8299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p>
            <a:pPr algn="ctr"/>
            <a:r>
              <a:rPr lang="zh-CN" sz="2400"/>
              <a:t>沈药，</a:t>
            </a:r>
            <a:r>
              <a:rPr lang="zh-CN" altLang="en-US" sz="2400"/>
              <a:t>桑白皮混淆品——</a:t>
            </a:r>
            <a:r>
              <a:rPr lang="zh-CN" altLang="en-US" sz="2400" b="1">
                <a:solidFill>
                  <a:srgbClr val="FF0000"/>
                </a:solidFill>
              </a:rPr>
              <a:t>构棘</a:t>
            </a:r>
            <a:r>
              <a:rPr lang="zh-CN" altLang="en-US" sz="2400"/>
              <a:t>根皮的生药学鉴定，沈药学报，</a:t>
            </a:r>
            <a:r>
              <a:rPr lang="en-US" altLang="zh-CN" sz="2400"/>
              <a:t>1997</a:t>
            </a:r>
            <a:endParaRPr lang="zh-CN" altLang="en-US" sz="2400"/>
          </a:p>
          <a:p>
            <a:pPr algn="ctr"/>
            <a:endParaRPr lang="zh-CN" altLang="en-US" sz="2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6125" y="6061710"/>
            <a:ext cx="10515600" cy="647065"/>
          </a:xfrm>
          <a:solidFill>
            <a:schemeClr val="bg1">
              <a:lumMod val="95000"/>
            </a:schemeClr>
          </a:solidFill>
        </p:spPr>
        <p:txBody>
          <a:bodyPr>
            <a:normAutofit fontScale="80000"/>
          </a:bodyPr>
          <a:p>
            <a:r>
              <a:rPr lang="zh-CN" altLang="en-US" sz="3000"/>
              <a:t>黑龙江药检所，桑白皮与蜜桑白皮及其相近品种的鉴别研究，</a:t>
            </a:r>
            <a:r>
              <a:rPr lang="zh-CN" altLang="en-US" sz="3000" b="1"/>
              <a:t>黑龙江中医药</a:t>
            </a:r>
            <a:endParaRPr lang="zh-CN" altLang="en-US" sz="30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548765"/>
            <a:ext cx="5133975" cy="35966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60500"/>
            <a:ext cx="5842635" cy="297370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191260" y="5373370"/>
            <a:ext cx="448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图</a:t>
            </a:r>
            <a:r>
              <a:rPr lang="en-US" altLang="zh-CN" sz="2400"/>
              <a:t>1   </a:t>
            </a:r>
            <a:r>
              <a:rPr lang="zh-CN" altLang="en-US" sz="2400"/>
              <a:t>桑白皮</a:t>
            </a: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6661150" y="5373370"/>
            <a:ext cx="44831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图</a:t>
            </a:r>
            <a:r>
              <a:rPr lang="en-US" altLang="zh-CN" sz="2400"/>
              <a:t>2     </a:t>
            </a:r>
            <a:r>
              <a:rPr lang="zh-CN" altLang="en-US" sz="2400"/>
              <a:t>鸡桑白皮（</a:t>
            </a:r>
            <a:r>
              <a:rPr lang="zh-CN" altLang="en-US" sz="2400">
                <a:solidFill>
                  <a:srgbClr val="FF0000"/>
                </a:solidFill>
              </a:rPr>
              <a:t>？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六、桑白皮原植物与</a:t>
            </a:r>
            <a:r>
              <a:rPr lang="zh-CN" altLang="en-US" b="1">
                <a:solidFill>
                  <a:srgbClr val="FF0000"/>
                </a:solidFill>
                <a:sym typeface="+mn-ea"/>
              </a:rPr>
              <a:t>药材</a:t>
            </a:r>
            <a:r>
              <a:rPr lang="zh-CN" altLang="en-US" b="1">
                <a:sym typeface="+mn-ea"/>
              </a:rPr>
              <a:t>的鉴定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99840"/>
          </a:xfrm>
        </p:spPr>
        <p:txBody>
          <a:bodyPr>
            <a:normAutofit fontScale="90000"/>
          </a:bodyPr>
          <a:p>
            <a:pPr fontAlgn="auto">
              <a:lnSpc>
                <a:spcPts val="3360"/>
              </a:lnSpc>
            </a:pPr>
            <a:r>
              <a:rPr lang="zh-CN" altLang="en-US" b="1"/>
              <a:t>桑（</a:t>
            </a:r>
            <a:r>
              <a:rPr lang="en-US" altLang="zh-CN" b="1"/>
              <a:t>10</a:t>
            </a:r>
            <a:r>
              <a:rPr lang="zh-CN" altLang="en-US" b="1"/>
              <a:t>）、鸡桑（</a:t>
            </a:r>
            <a:r>
              <a:rPr lang="en-US" altLang="zh-CN" b="1"/>
              <a:t>1</a:t>
            </a:r>
            <a:r>
              <a:rPr lang="zh-CN" altLang="en-US" b="1"/>
              <a:t>）、华桑（</a:t>
            </a:r>
            <a:r>
              <a:rPr lang="en-US" altLang="zh-CN" b="1"/>
              <a:t>3</a:t>
            </a:r>
            <a:r>
              <a:rPr lang="zh-CN" altLang="en-US" b="1"/>
              <a:t>）、奶桑（</a:t>
            </a:r>
            <a:r>
              <a:rPr lang="en-US" altLang="zh-CN" b="1"/>
              <a:t>3</a:t>
            </a:r>
            <a:r>
              <a:rPr lang="zh-CN" altLang="en-US" b="1"/>
              <a:t>）、黑桑（</a:t>
            </a:r>
            <a:r>
              <a:rPr lang="en-US" altLang="zh-CN" b="1"/>
              <a:t>1</a:t>
            </a:r>
            <a:r>
              <a:rPr lang="zh-CN" altLang="en-US" b="1"/>
              <a:t>）、川桑（</a:t>
            </a:r>
            <a:r>
              <a:rPr lang="en-US" altLang="zh-CN" b="1"/>
              <a:t>2</a:t>
            </a:r>
            <a:r>
              <a:rPr lang="zh-CN" altLang="en-US" b="1"/>
              <a:t>）、吉隆桑（</a:t>
            </a:r>
            <a:r>
              <a:rPr lang="en-US" altLang="zh-CN" b="1"/>
              <a:t>1</a:t>
            </a:r>
            <a:r>
              <a:rPr lang="zh-CN" altLang="en-US" b="1"/>
              <a:t>）、长穗桑（</a:t>
            </a:r>
            <a:r>
              <a:rPr lang="en-US" altLang="zh-CN" b="1"/>
              <a:t>2</a:t>
            </a:r>
            <a:r>
              <a:rPr lang="zh-CN" altLang="en-US" b="1"/>
              <a:t>）、构树（</a:t>
            </a:r>
            <a:r>
              <a:rPr lang="en-US" altLang="zh-CN" b="1"/>
              <a:t>2</a:t>
            </a:r>
            <a:r>
              <a:rPr lang="zh-CN" altLang="en-US" b="1"/>
              <a:t>）、柘树（</a:t>
            </a:r>
            <a:r>
              <a:rPr lang="en-US" altLang="zh-CN" b="1"/>
              <a:t>2</a:t>
            </a:r>
            <a:r>
              <a:rPr lang="zh-CN" altLang="en-US" b="1"/>
              <a:t>）共</a:t>
            </a:r>
            <a:r>
              <a:rPr lang="en-US" altLang="zh-CN" b="1"/>
              <a:t>27</a:t>
            </a:r>
            <a:r>
              <a:rPr lang="zh-CN" altLang="en-US" b="1"/>
              <a:t>份</a:t>
            </a:r>
            <a:endParaRPr lang="zh-CN" altLang="en-US" b="1"/>
          </a:p>
          <a:p>
            <a:pPr fontAlgn="auto">
              <a:lnSpc>
                <a:spcPts val="3360"/>
              </a:lnSpc>
            </a:pPr>
            <a:r>
              <a:rPr lang="en-US" altLang="zh-CN"/>
              <a:t>1.</a:t>
            </a:r>
            <a:r>
              <a:rPr lang="zh-CN" altLang="en-US"/>
              <a:t>鸡桑、黑桑、吉隆桑各仅 1 份样本，没有生物学重复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2.</a:t>
            </a:r>
            <a:r>
              <a:rPr lang="zh-CN" altLang="en-US"/>
              <a:t>两份构树样本与桑的 </a:t>
            </a:r>
            <a:r>
              <a:rPr lang="en-US" altLang="zh-CN"/>
              <a:t>K2P </a:t>
            </a:r>
            <a:r>
              <a:rPr lang="zh-CN" altLang="en-US"/>
              <a:t>遗传距离差异悬殊（0.088 </a:t>
            </a:r>
            <a:r>
              <a:rPr lang="en-US" altLang="zh-CN"/>
              <a:t>vs 0.307），</a:t>
            </a:r>
            <a:r>
              <a:rPr lang="zh-CN" altLang="en-US"/>
              <a:t>不符合同物种的序列变异规律，大概率存在样本混淆、测序错误或序列拼接问题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3.</a:t>
            </a:r>
            <a:r>
              <a:rPr lang="zh-CN" altLang="en-US"/>
              <a:t>未标注样品采集产地，不清楚样品的代表性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38200" y="5625465"/>
            <a:ext cx="103689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湖北中医药大学，</a:t>
            </a:r>
            <a:r>
              <a:rPr lang="zh-CN" altLang="en-US" sz="2400" b="1"/>
              <a:t>桑白皮及其混伪品的 </a:t>
            </a:r>
            <a:r>
              <a:rPr lang="en-US" altLang="zh-CN" sz="2400" b="1"/>
              <a:t>DNA </a:t>
            </a:r>
            <a:r>
              <a:rPr lang="zh-CN" altLang="en-US" sz="2400" b="1"/>
              <a:t>条形码鉴定研究</a:t>
            </a:r>
            <a:r>
              <a:rPr lang="zh-CN" altLang="en-US" sz="2400"/>
              <a:t>，世界科学技术</a:t>
            </a:r>
            <a:r>
              <a:rPr lang="en-US" altLang="zh-CN" sz="2400"/>
              <a:t>-</a:t>
            </a:r>
            <a:r>
              <a:rPr lang="zh-CN" altLang="en-US" sz="2400"/>
              <a:t>中国医药现代化，</a:t>
            </a:r>
            <a:r>
              <a:rPr lang="en-US" altLang="zh-CN" sz="2400"/>
              <a:t>2013</a:t>
            </a:r>
            <a:endParaRPr lang="en-US" altLang="zh-CN" sz="2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4815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七、鸡桑、华桑、蒙桑等伪品的鉴别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31190" y="975360"/>
          <a:ext cx="11009630" cy="4785360"/>
        </p:xfrm>
        <a:graphic>
          <a:graphicData uri="http://schemas.openxmlformats.org/drawingml/2006/table">
            <a:tbl>
              <a:tblPr/>
              <a:tblGrid>
                <a:gridCol w="1659890"/>
                <a:gridCol w="9349740"/>
              </a:tblGrid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与正品的主要区别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蒙桑根皮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外表面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灰白色，有不规则纵裂纹；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内表面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淡黄色，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质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地较硬，纤维性稍差；撕裂时粉尘少；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味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微苦，无黏性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鸡桑根皮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根皮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 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0.1~0.2cm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）；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外表面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灰黄色，有较多横长皮孔；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内表面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黄白色，纤维较细；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味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淡，黏性弱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chemeClr val="tx1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华桑根皮</a:t>
                      </a:r>
                      <a:endParaRPr lang="zh-CN" altLang="en-US" sz="2800" b="1" i="0">
                        <a:solidFill>
                          <a:schemeClr val="tx1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根皮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 </a:t>
                      </a:r>
                      <a:r>
                        <a:rPr lang="en-US" altLang="zh-CN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0.3~0.5cm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）；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外表面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棕黄色，粗糙，有深纵皱纹；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内表面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棕黄色；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质地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坚韧，纤维粗硬；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味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微苦（</a:t>
                      </a:r>
                      <a:r>
                        <a:rPr lang="zh-CN" altLang="en-US" sz="2800" b="0" i="0">
                          <a:solidFill>
                            <a:srgbClr val="FF0000"/>
                          </a:solidFill>
                          <a:latin typeface="ui-sans-serif"/>
                          <a:ea typeface="ui-sans-serif"/>
                        </a:rPr>
                        <a:t>淡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）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黑桑根皮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外表面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暗灰色，残留黑褐色栓皮；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内表面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灰黄色；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质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重，纤维性强但韧性差；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味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微涩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川桑根皮</a:t>
                      </a:r>
                      <a:endParaRPr lang="zh-CN" altLang="en-US" sz="2800" b="1" i="0">
                        <a:solidFill>
                          <a:srgbClr val="000000"/>
                        </a:solidFill>
                        <a:latin typeface="黑体" panose="02010609060101010101" charset="-122"/>
                        <a:ea typeface="黑体" panose="02010609060101010101" charset="-122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外表面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灰棕色，有细纵纹；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内表面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淡黄色；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断面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有少量黄色斑点；</a:t>
                      </a:r>
                      <a:r>
                        <a:rPr lang="zh-CN" altLang="en-US" sz="2800" b="1" i="0">
                          <a:solidFill>
                            <a:srgbClr val="000000"/>
                          </a:solidFill>
                          <a:latin typeface="黑体" panose="02010609060101010101" charset="-122"/>
                          <a:ea typeface="黑体" panose="02010609060101010101" charset="-122"/>
                        </a:rPr>
                        <a:t>味</a:t>
                      </a:r>
                      <a:r>
                        <a:rPr lang="zh-CN" altLang="en-US" sz="2800" b="0" i="0">
                          <a:solidFill>
                            <a:srgbClr val="000000"/>
                          </a:solidFill>
                          <a:latin typeface="ui-sans-serif"/>
                          <a:ea typeface="ui-sans-serif"/>
                        </a:rPr>
                        <a:t>淡</a:t>
                      </a:r>
                      <a:endParaRPr lang="zh-CN" altLang="en-US" sz="2800" b="0" i="0">
                        <a:solidFill>
                          <a:srgbClr val="000000"/>
                        </a:solidFill>
                        <a:latin typeface="ui-sans-serif"/>
                        <a:ea typeface="ui-sans-serif"/>
                      </a:endParaRPr>
                    </a:p>
                  </a:txBody>
                  <a:tcPr marL="89217" marR="114617" marT="76517" marB="51117" anchor="ctr" anchorCtr="0">
                    <a:lnL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62280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七、鸡桑、华桑、蒙桑等伪品的鉴别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476250" y="1122045"/>
            <a:ext cx="1164590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浙江中医药研究院，桑白皮与易混淆品种红外光谱指纹谱的分析（白桑、蒙桑、鸡桑、华桑、构树、柘树、小构树，中草药，</a:t>
            </a:r>
            <a:r>
              <a:rPr lang="en-US" altLang="zh-CN" sz="2400"/>
              <a:t>2002</a:t>
            </a:r>
            <a:r>
              <a:rPr lang="zh-CN" altLang="en-US" sz="2400"/>
              <a:t>），</a:t>
            </a:r>
            <a:r>
              <a:rPr lang="zh-CN" altLang="en-US" sz="2400" b="1"/>
              <a:t>能区别</a:t>
            </a:r>
            <a:endParaRPr lang="zh-CN" altLang="en-US" sz="2400"/>
          </a:p>
          <a:p>
            <a:r>
              <a:rPr lang="zh-CN" altLang="en-US" sz="2400">
                <a:sym typeface="+mn-ea"/>
              </a:rPr>
              <a:t>浙江中医药研究院，</a:t>
            </a:r>
            <a:r>
              <a:rPr lang="zh-CN" altLang="en-US" sz="2400"/>
              <a:t>桑白皮的薄层色谱鉴别方法研究（</a:t>
            </a:r>
            <a:r>
              <a:rPr lang="zh-CN" altLang="en-US" sz="2400">
                <a:sym typeface="+mn-ea"/>
              </a:rPr>
              <a:t>白桑、蒙桑、鸡桑、华桑、构树、柘树、小构树，中草药</a:t>
            </a:r>
            <a:r>
              <a:rPr lang="en-US" altLang="zh-CN" sz="2400">
                <a:sym typeface="+mn-ea"/>
              </a:rPr>
              <a:t>2002</a:t>
            </a:r>
            <a:r>
              <a:rPr lang="zh-CN" altLang="en-US" sz="2400"/>
              <a:t>），</a:t>
            </a:r>
            <a:r>
              <a:rPr lang="zh-CN" altLang="en-US" sz="2400" b="1"/>
              <a:t>伪品不含桑根酮</a:t>
            </a:r>
            <a:r>
              <a:rPr lang="en-US" altLang="zh-CN" sz="2400" b="1"/>
              <a:t>C</a:t>
            </a:r>
            <a:endParaRPr lang="en-US" altLang="zh-CN" sz="2400" b="1"/>
          </a:p>
          <a:p>
            <a:r>
              <a:rPr lang="zh-CN" altLang="en-US" sz="2400"/>
              <a:t>本溪药检所，紫外法测定华桑、鸡桑、桑、蒙桑中芦丁的含量，药物研究，2008</a:t>
            </a:r>
            <a:endParaRPr lang="zh-CN" altLang="en-US" sz="2400"/>
          </a:p>
          <a:p>
            <a:r>
              <a:rPr lang="zh-CN" altLang="en-US" sz="2400"/>
              <a:t>广西容县药检所，桑白皮及其混淆品</a:t>
            </a:r>
            <a:r>
              <a:rPr lang="en-US" altLang="zh-CN" sz="2400"/>
              <a:t> </a:t>
            </a:r>
            <a:r>
              <a:rPr lang="zh-CN" altLang="en-US" sz="2400"/>
              <a:t>紫外光谱鉴别，中国医院药学杂志，</a:t>
            </a:r>
            <a:r>
              <a:rPr lang="en-US" altLang="zh-CN" sz="2400"/>
              <a:t>1992</a:t>
            </a:r>
            <a:endParaRPr lang="en-US" altLang="zh-CN" sz="2400"/>
          </a:p>
          <a:p>
            <a:r>
              <a:rPr lang="zh-CN" altLang="en-US" sz="2400"/>
              <a:t>滨州医学院，中药桑白皮导数光谱鉴别的研究，中医药学报，</a:t>
            </a:r>
            <a:r>
              <a:rPr lang="en-US" altLang="zh-CN" sz="2400"/>
              <a:t>2011</a:t>
            </a:r>
            <a:endParaRPr lang="en-US" altLang="zh-CN" sz="2400"/>
          </a:p>
          <a:p>
            <a:r>
              <a:rPr lang="zh-CN" altLang="en-US" sz="2400"/>
              <a:t>浙江中医药研究院，桑白皮与易混淆品种红外光谱指纹谱的分析，中医药学报，</a:t>
            </a:r>
            <a:r>
              <a:rPr lang="en-US" altLang="zh-CN" sz="2400"/>
              <a:t>2011</a:t>
            </a:r>
            <a:endParaRPr lang="en-US" altLang="zh-CN" sz="2400"/>
          </a:p>
          <a:p>
            <a:r>
              <a:rPr lang="zh-CN" altLang="en-US" sz="2400"/>
              <a:t>湖北中医药大学，桑白皮及其混伪品的 </a:t>
            </a:r>
            <a:r>
              <a:rPr lang="en-US" altLang="zh-CN" sz="2400"/>
              <a:t>D N A </a:t>
            </a:r>
            <a:r>
              <a:rPr lang="zh-CN" altLang="en-US" sz="2400"/>
              <a:t>条形码鉴定研究，世界科学技术，</a:t>
            </a:r>
            <a:r>
              <a:rPr lang="en-US" altLang="zh-CN" sz="2400"/>
              <a:t>2013</a:t>
            </a:r>
            <a:endParaRPr lang="en-US" altLang="zh-CN" sz="2400"/>
          </a:p>
          <a:p>
            <a:r>
              <a:rPr lang="zh-CN" altLang="en-US" sz="2400"/>
              <a:t>西华大学，高效液相色谱法结合支持向量机鉴别桑白皮（白桑、蒙桑、各种杂交桑），成都医学院学报，</a:t>
            </a:r>
            <a:r>
              <a:rPr lang="en-US" altLang="zh-CN" sz="2400"/>
              <a:t>2011</a:t>
            </a:r>
            <a:endParaRPr lang="en-US" altLang="zh-CN" sz="2400"/>
          </a:p>
          <a:p>
            <a:r>
              <a:rPr lang="zh-CN" altLang="en-US" sz="2400"/>
              <a:t>山东第一医科大学，桑白皮基原物种的 </a:t>
            </a:r>
            <a:r>
              <a:rPr lang="en-US" altLang="zh-CN" sz="2400"/>
              <a:t>DNA</a:t>
            </a:r>
            <a:r>
              <a:rPr lang="zh-CN" altLang="en-US" sz="2400"/>
              <a:t>条形码鉴定研究（鲁桑、湖桑、各种杂交桑），中医药信息，</a:t>
            </a:r>
            <a:r>
              <a:rPr lang="en-US" altLang="zh-CN" sz="2400"/>
              <a:t>2023</a:t>
            </a:r>
            <a:r>
              <a:rPr lang="zh-CN" altLang="en-US" sz="2400"/>
              <a:t>，</a:t>
            </a:r>
            <a:r>
              <a:rPr lang="zh-CN" altLang="en-US" sz="2400" b="1"/>
              <a:t>不能鉴别</a:t>
            </a:r>
            <a:endParaRPr lang="zh-CN" altLang="en-US" sz="2400" b="1"/>
          </a:p>
          <a:p>
            <a:r>
              <a:rPr lang="zh-CN" altLang="en-US" sz="2400"/>
              <a:t>中国医科院，基于1H-NMＲ 指纹图谱的四批市售桑白皮药材质量分析，沈药学报，</a:t>
            </a:r>
            <a:r>
              <a:rPr lang="en-US" altLang="zh-CN" sz="2400"/>
              <a:t>2017</a:t>
            </a:r>
            <a:endParaRPr lang="en-US" altLang="zh-CN" sz="2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6415"/>
          </a:xfrm>
        </p:spPr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七、鸡桑、华桑、蒙桑等伪品的鉴别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7350" y="6153150"/>
            <a:ext cx="11417300" cy="3683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p>
            <a:r>
              <a:rPr lang="zh-CN" altLang="en-US"/>
              <a:t>三峡学院，</a:t>
            </a:r>
            <a:r>
              <a:rPr lang="en-US" altLang="zh-CN"/>
              <a:t>HPLC</a:t>
            </a:r>
            <a:r>
              <a:rPr lang="zh-CN" altLang="en-US"/>
              <a:t>法同时测定不同基原崖桑皮和桑白皮中7种活性成分含量（重庆样本），中国药房，</a:t>
            </a:r>
            <a:r>
              <a:rPr lang="en-US" altLang="zh-CN"/>
              <a:t>2021</a:t>
            </a:r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25" y="958850"/>
            <a:ext cx="6826250" cy="49403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064500" y="1390650"/>
            <a:ext cx="330200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山柰酚、桑辛素可以考虑作为物种鉴别标志</a:t>
            </a:r>
            <a:endParaRPr lang="zh-CN" altLang="en-US" sz="2800" b="1"/>
          </a:p>
          <a:p>
            <a:r>
              <a:rPr lang="zh-CN" altLang="en-US" sz="2800" b="1"/>
              <a:t>缺陷：所有样本均来自重庆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656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八、不同产地桑白皮的性状区别</a:t>
            </a:r>
            <a:endParaRPr lang="en-US" altLang="zh-CN" b="1"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63245" y="1045210"/>
          <a:ext cx="11276330" cy="4983480"/>
        </p:xfrm>
        <a:graphic>
          <a:graphicData uri="http://schemas.openxmlformats.org/drawingml/2006/table">
            <a:tbl>
              <a:tblPr/>
              <a:tblGrid>
                <a:gridCol w="875030"/>
                <a:gridCol w="4781550"/>
                <a:gridCol w="5619750"/>
              </a:tblGrid>
              <a:tr h="0">
                <a:tc>
                  <a:txBody>
                    <a:bodyPr/>
                    <a:p>
                      <a:pPr algn="l" fontAlgn="ctr" latinLnBrk="0"/>
                      <a:r>
                        <a:rPr lang="zh-CN" altLang="en-US" sz="2800" b="1"/>
                        <a:t>产地</a:t>
                      </a:r>
                      <a:endParaRPr lang="zh-CN" altLang="en-US" sz="28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800" b="1"/>
                        <a:t>代表市县</a:t>
                      </a:r>
                      <a:endParaRPr lang="zh-CN" altLang="en-US" sz="28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 latinLnBrk="0"/>
                      <a:r>
                        <a:rPr lang="zh-CN" altLang="en-US" sz="2800" b="1"/>
                        <a:t>来源</a:t>
                      </a:r>
                      <a:endParaRPr lang="zh-CN" altLang="en-US" sz="2800" b="1"/>
                    </a:p>
                  </a:txBody>
                  <a:tcPr marL="0" marR="127317" marT="63817" marB="63817" anchor="ctr" anchorCtr="0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安徽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亳州、阜阳、涡阳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湖桑 / 鲁桑品系（亳桑皮）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河南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商丘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原生实生白桑居多（嵩桑皮）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浙江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淳安（临安</a:t>
                      </a:r>
                      <a:r>
                        <a:rPr lang="en-US" altLang="zh-CN" sz="2800" b="1"/>
                        <a:t>/</a:t>
                      </a:r>
                      <a:r>
                        <a:rPr lang="zh-CN" altLang="en-US" sz="2800" b="1"/>
                        <a:t>桐乡</a:t>
                      </a:r>
                      <a:r>
                        <a:rPr lang="en-US" altLang="zh-CN" sz="2800" b="1"/>
                        <a:t>/</a:t>
                      </a:r>
                      <a:r>
                        <a:rPr lang="zh-CN" altLang="en-US" sz="2800" b="1"/>
                        <a:t>建德）</a:t>
                      </a:r>
                      <a:endParaRPr lang="zh-CN" altLang="en-US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 b="1"/>
                        <a:t>栽培（</a:t>
                      </a:r>
                      <a:r>
                        <a:rPr lang="zh-CN" altLang="en-US" sz="2800" b="1"/>
                        <a:t>严桑皮）</a:t>
                      </a:r>
                      <a:r>
                        <a:rPr lang="en-US" altLang="zh-CN" sz="2800" b="1"/>
                        <a:t>​</a:t>
                      </a:r>
                      <a:endParaRPr lang="en-US" altLang="zh-CN" sz="2800" b="1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江苏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泰兴、南通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栽培</a:t>
                      </a:r>
                      <a:r>
                        <a:rPr lang="en-US" altLang="zh-CN" sz="2800"/>
                        <a:t>​</a:t>
                      </a:r>
                      <a:endParaRPr lang="en-US" altLang="zh-CN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四川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涪陵、南充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栽培为主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湖南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会同、沅陵、怀化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栽培为主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53720"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河北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涞源、易县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栽培为主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广东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顺德、南海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base"/>
                      <a:r>
                        <a:rPr lang="zh-CN" altLang="en-US" sz="2800"/>
                        <a:t>栽培为主</a:t>
                      </a:r>
                      <a:endParaRPr lang="zh-CN" altLang="en-US" sz="2800"/>
                    </a:p>
                  </a:txBody>
                  <a:tcPr marL="0" marR="127317" marT="63817" marB="63817">
                    <a:lnL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E0E0E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64795" y="6028690"/>
            <a:ext cx="11574145" cy="6610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noAutofit/>
          </a:bodyPr>
          <a:p>
            <a:pPr indent="0" algn="ctr" fontAlgn="auto">
              <a:lnSpc>
                <a:spcPts val="336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野生白桑的产地：</a:t>
            </a:r>
            <a:r>
              <a:rPr lang="zh-CN" altLang="en-US" sz="2800" b="1"/>
              <a:t>原产于中国中部和北部，冀晋陕鲁豫宁甘</a:t>
            </a:r>
            <a:endParaRPr lang="zh-CN" altLang="en-US" sz="2800" b="1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31775"/>
            <a:ext cx="10515600" cy="1325563"/>
          </a:xfrm>
        </p:spPr>
        <p:txBody>
          <a:bodyPr/>
          <a:p>
            <a:r>
              <a:rPr lang="zh-CN" altLang="en-US" b="1">
                <a:sym typeface="+mn-ea"/>
              </a:rPr>
              <a:t>八、不同产地桑白皮的性状区别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1360" y="1691005"/>
            <a:ext cx="3337560" cy="3383280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5206365" y="1691005"/>
          <a:ext cx="610743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3715"/>
                <a:gridCol w="30537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产地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桑皮苷</a:t>
                      </a:r>
                      <a:r>
                        <a:rPr lang="en-US" altLang="zh-CN" sz="2800"/>
                        <a:t>A</a:t>
                      </a:r>
                      <a:endParaRPr lang="en-US" altLang="zh-CN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河南（</a:t>
                      </a:r>
                      <a:r>
                        <a:rPr lang="en-US" altLang="zh-CN" sz="2800"/>
                        <a:t>8</a:t>
                      </a:r>
                      <a:r>
                        <a:rPr lang="zh-CN" altLang="en-US" sz="2800"/>
                        <a:t>样品）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0.023</a:t>
                      </a:r>
                      <a:endParaRPr lang="en-US" altLang="zh-CN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安徽（</a:t>
                      </a:r>
                      <a:r>
                        <a:rPr lang="en-US" altLang="zh-CN" sz="2800"/>
                        <a:t>12</a:t>
                      </a:r>
                      <a:r>
                        <a:rPr lang="zh-CN" altLang="en-US" sz="2800"/>
                        <a:t>样品）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1.560</a:t>
                      </a:r>
                      <a:endParaRPr lang="en-US" altLang="zh-CN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浙江（</a:t>
                      </a:r>
                      <a:r>
                        <a:rPr lang="en-US" altLang="zh-CN" sz="2800"/>
                        <a:t>4</a:t>
                      </a:r>
                      <a:r>
                        <a:rPr lang="zh-CN" altLang="en-US" sz="2800"/>
                        <a:t>样品）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0.007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广东（</a:t>
                      </a:r>
                      <a:r>
                        <a:rPr lang="en-US" altLang="zh-CN" sz="2800"/>
                        <a:t>4</a:t>
                      </a:r>
                      <a:r>
                        <a:rPr lang="zh-CN" altLang="en-US" sz="2800"/>
                        <a:t>样品）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>
                          <a:sym typeface="+mn-ea"/>
                        </a:rPr>
                        <a:t>0.007</a:t>
                      </a:r>
                      <a:endParaRPr lang="zh-CN" altLang="en-US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四川</a:t>
                      </a:r>
                      <a:r>
                        <a:rPr lang="zh-CN" altLang="en-US" sz="2800">
                          <a:sym typeface="+mn-ea"/>
                        </a:rPr>
                        <a:t>（</a:t>
                      </a:r>
                      <a:r>
                        <a:rPr lang="en-US" altLang="zh-CN" sz="2800">
                          <a:sym typeface="+mn-ea"/>
                        </a:rPr>
                        <a:t>4</a:t>
                      </a:r>
                      <a:r>
                        <a:rPr lang="zh-CN" altLang="en-US" sz="2800">
                          <a:sym typeface="+mn-ea"/>
                        </a:rPr>
                        <a:t>样品）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0.073</a:t>
                      </a:r>
                      <a:endParaRPr lang="en-US" altLang="zh-CN" sz="2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湖南</a:t>
                      </a:r>
                      <a:r>
                        <a:rPr lang="zh-CN" altLang="en-US" sz="2800">
                          <a:sym typeface="+mn-ea"/>
                        </a:rPr>
                        <a:t>（</a:t>
                      </a:r>
                      <a:r>
                        <a:rPr lang="en-US" altLang="zh-CN" sz="2800">
                          <a:sym typeface="+mn-ea"/>
                        </a:rPr>
                        <a:t>4</a:t>
                      </a:r>
                      <a:r>
                        <a:rPr lang="zh-CN" altLang="en-US" sz="2800">
                          <a:sym typeface="+mn-ea"/>
                        </a:rPr>
                        <a:t>样品）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800"/>
                        <a:t>0.043</a:t>
                      </a:r>
                      <a:endParaRPr lang="en-US" altLang="zh-CN" sz="28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343535" y="5557520"/>
            <a:ext cx="11490325" cy="123761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p>
            <a:pPr indent="0" fontAlgn="auto">
              <a:lnSpc>
                <a:spcPts val="2980"/>
              </a:lnSpc>
            </a:pPr>
            <a:r>
              <a:rPr lang="zh-CN" altLang="en-US" sz="2400"/>
              <a:t>数据合乎逻辑，但是安徽样品和其他产地明显不同，是否存在样品偏差无法核查，但数据没有问题（济川药业，不同产地桑白皮饮片中桑皮苷 </a:t>
            </a:r>
            <a:r>
              <a:rPr lang="en-US" altLang="zh-CN" sz="2400"/>
              <a:t>A </a:t>
            </a:r>
            <a:r>
              <a:rPr lang="zh-CN" altLang="en-US" sz="2400"/>
              <a:t>质量分数的测定，生物加工过程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2026</a:t>
            </a:r>
            <a:r>
              <a:rPr lang="zh-CN" altLang="en-US" sz="2400"/>
              <a:t>）</a:t>
            </a:r>
            <a:endParaRPr lang="zh-CN" altLang="en-US" sz="240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81990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八、不同产地桑白皮的性状区别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4000" y="1313815"/>
            <a:ext cx="6336030" cy="4627245"/>
          </a:xfrm>
        </p:spPr>
        <p:txBody>
          <a:bodyPr>
            <a:noAutofit/>
          </a:bodyPr>
          <a:p>
            <a:pPr fontAlgn="auto">
              <a:lnSpc>
                <a:spcPts val="3360"/>
              </a:lnSpc>
            </a:pPr>
            <a:r>
              <a:rPr lang="zh-CN" altLang="en-US" sz="2300"/>
              <a:t>桑白皮分布十分广泛，今用桑白皮主产于</a:t>
            </a:r>
            <a:r>
              <a:rPr lang="zh-CN" altLang="en-US" sz="2300" b="1"/>
              <a:t>河南省、安徽省、四川省、湖南省、河北省、广东省</a:t>
            </a:r>
            <a:r>
              <a:rPr lang="zh-CN" altLang="en-US" sz="2300"/>
              <a:t>。以河南省、安徽省产量大，并以亳桑皮质量佳。本课题组前期共采集了 8 个产地的桑白皮，包括广西南宁、安徽亳州、河南商丘、湖北十堰、江西、河北、安徽、湖北。对上述 8 个产地桑白皮的桑皮苷 </a:t>
            </a:r>
            <a:r>
              <a:rPr lang="en-US" altLang="zh-CN" sz="2300"/>
              <a:t>A </a:t>
            </a:r>
            <a:r>
              <a:rPr lang="zh-CN" altLang="en-US" sz="2300"/>
              <a:t>进 行 测定，结果显示产地为</a:t>
            </a:r>
            <a:r>
              <a:rPr lang="zh-CN" altLang="en-US" sz="2300" b="1"/>
              <a:t>湖北十堰的药材桑皮苷 </a:t>
            </a:r>
            <a:r>
              <a:rPr lang="en-US" altLang="zh-CN" sz="2300" b="1"/>
              <a:t>A </a:t>
            </a:r>
            <a:r>
              <a:rPr lang="zh-CN" altLang="en-US" sz="2300" b="1"/>
              <a:t>含量极低</a:t>
            </a:r>
            <a:r>
              <a:rPr lang="zh-CN" altLang="en-US" sz="2300"/>
              <a:t>，另外来自于</a:t>
            </a:r>
            <a:r>
              <a:rPr lang="zh-CN" altLang="en-US" sz="2300" b="1"/>
              <a:t>江西、河北</a:t>
            </a:r>
            <a:r>
              <a:rPr lang="zh-CN" altLang="en-US" sz="2300"/>
              <a:t>的桑白皮药材中，桑皮苷 </a:t>
            </a:r>
            <a:r>
              <a:rPr lang="en-US" altLang="zh-CN" sz="2300"/>
              <a:t>A </a:t>
            </a:r>
            <a:r>
              <a:rPr lang="zh-CN" altLang="en-US" sz="2300"/>
              <a:t>含量均</a:t>
            </a:r>
            <a:r>
              <a:rPr lang="zh-CN" altLang="en-US" sz="2300" b="1"/>
              <a:t>低于 1%</a:t>
            </a:r>
            <a:r>
              <a:rPr lang="zh-CN" altLang="en-US" sz="2300"/>
              <a:t>，质量较差; </a:t>
            </a:r>
            <a:r>
              <a:rPr lang="zh-CN" altLang="en-US" sz="2300" b="1"/>
              <a:t>广西南宁、安徽亳州和河南商丘</a:t>
            </a:r>
            <a:r>
              <a:rPr lang="zh-CN" altLang="en-US" sz="2300"/>
              <a:t>的 15 批药材桑皮苷 </a:t>
            </a:r>
            <a:r>
              <a:rPr lang="en-US" altLang="zh-CN" sz="2300"/>
              <a:t>A </a:t>
            </a:r>
            <a:r>
              <a:rPr lang="zh-CN" altLang="en-US" sz="2300"/>
              <a:t>质量分数均高于 1%，且含量稳定</a:t>
            </a:r>
            <a:endParaRPr lang="zh-CN" altLang="en-US" sz="23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2715" y="1432560"/>
            <a:ext cx="5532120" cy="43891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66560" y="6008370"/>
            <a:ext cx="5425440" cy="64516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桑白皮、炒桑白皮及其标准汤剂的质量评价方法及质量传递规律研究，中国中药杂志，</a:t>
            </a:r>
            <a:r>
              <a:rPr lang="en-US" altLang="zh-CN">
                <a:sym typeface="+mn-ea"/>
              </a:rPr>
              <a:t>2022</a:t>
            </a:r>
            <a:endParaRPr lang="en-US" altLang="zh-CN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八、不同产地桑白皮的性状区别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094990"/>
          </a:xfrm>
        </p:spPr>
        <p:txBody>
          <a:bodyPr/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21 批药典正品桑白皮</a:t>
            </a:r>
            <a:r>
              <a:rPr lang="en-US" altLang="zh-CN"/>
              <a:t>，</a:t>
            </a:r>
            <a:r>
              <a:rPr lang="zh-CN" altLang="en-US"/>
              <a:t>全国多产地，四川为主（</a:t>
            </a:r>
            <a:r>
              <a:rPr lang="en-US" altLang="zh-CN"/>
              <a:t>S1–S7），</a:t>
            </a:r>
            <a:r>
              <a:rPr lang="zh-CN" altLang="en-US"/>
              <a:t>云贵、华中、华北、华东、广西分散单批；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检测 7 种桑特征二苯乙烯 / 黄酮：桑皮苷 </a:t>
            </a:r>
            <a:r>
              <a:rPr lang="en-US" altLang="zh-CN"/>
              <a:t>A、</a:t>
            </a:r>
            <a:r>
              <a:rPr lang="zh-CN" altLang="en-US"/>
              <a:t>氧化白藜芦醇、桑色素、桑根酮 </a:t>
            </a:r>
            <a:r>
              <a:rPr lang="en-US" altLang="zh-CN"/>
              <a:t>D、</a:t>
            </a:r>
            <a:r>
              <a:rPr lang="zh-CN" altLang="en-US"/>
              <a:t>桑黄酮 </a:t>
            </a:r>
            <a:r>
              <a:rPr lang="en-US" altLang="zh-CN"/>
              <a:t>G、</a:t>
            </a:r>
            <a:r>
              <a:rPr lang="zh-CN" altLang="en-US"/>
              <a:t>桑皮酮 </a:t>
            </a:r>
            <a:r>
              <a:rPr lang="en-US" altLang="zh-CN"/>
              <a:t>H、</a:t>
            </a:r>
            <a:r>
              <a:rPr lang="zh-CN" altLang="en-US"/>
              <a:t>桑辛素；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/>
              <a:t>数据缺陷：大量 </a:t>
            </a:r>
            <a:r>
              <a:rPr lang="en-US" altLang="zh-CN"/>
              <a:t>“</a:t>
            </a:r>
            <a:r>
              <a:rPr lang="zh-CN" altLang="en-US"/>
              <a:t>低于检出限</a:t>
            </a:r>
            <a:r>
              <a:rPr lang="en-US" altLang="zh-CN"/>
              <a:t>”“</a:t>
            </a:r>
            <a:r>
              <a:rPr lang="zh-CN" altLang="en-US"/>
              <a:t>低于定量限” 缺失数值，贵州 </a:t>
            </a:r>
            <a:r>
              <a:rPr lang="en-US" altLang="zh-CN"/>
              <a:t>S8、S9、S10、S11 </a:t>
            </a:r>
            <a:r>
              <a:rPr lang="zh-CN" altLang="en-US"/>
              <a:t>整体全成分极低，和四川样本差距极大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908050" y="5137150"/>
            <a:ext cx="10629900" cy="8299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400"/>
              <a:t>成都中医药大学，不同产地桑白皮中 7 种成分的含量测定及化学计量学评价，中药材，</a:t>
            </a:r>
            <a:r>
              <a:rPr lang="en-US" altLang="zh-CN" sz="2400"/>
              <a:t>2020</a:t>
            </a:r>
            <a:endParaRPr lang="en-US" altLang="zh-CN" sz="2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27965"/>
          </a:xfrm>
        </p:spPr>
        <p:txBody>
          <a:bodyPr>
            <a:normAutofit fontScale="90000"/>
          </a:bodyPr>
          <a:p>
            <a:r>
              <a:rPr lang="zh-CN" altLang="en-US" b="1">
                <a:sym typeface="+mn-ea"/>
              </a:rPr>
              <a:t>八、不同产地桑白皮的性状区别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46050" y="955675"/>
            <a:ext cx="11207750" cy="5144770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zh-CN" altLang="en-US">
                <a:sym typeface="+mn-ea"/>
              </a:rPr>
              <a:t>若药材外观差、粉性弱、粗皮多 ，疑似广西产；若药材色白、粉性足、质地柔韧 ，归为非广西组（安徽 / 河南 / 湖北）</a:t>
            </a:r>
            <a:endParaRPr lang="zh-CN" altLang="en-US" b="1">
              <a:sym typeface="+mn-ea"/>
            </a:endParaRPr>
          </a:p>
          <a:p>
            <a:pPr fontAlgn="auto">
              <a:lnSpc>
                <a:spcPts val="3360"/>
              </a:lnSpc>
            </a:pPr>
            <a:r>
              <a:rPr lang="zh-CN" altLang="en-US" b="1">
                <a:sym typeface="+mn-ea"/>
              </a:rPr>
              <a:t>桑皮苷 </a:t>
            </a:r>
            <a:r>
              <a:rPr lang="en-US" altLang="zh-CN" b="1">
                <a:sym typeface="+mn-ea"/>
              </a:rPr>
              <a:t>A</a:t>
            </a:r>
            <a:r>
              <a:rPr lang="zh-CN" altLang="en-US">
                <a:sym typeface="+mn-ea"/>
              </a:rPr>
              <a:t>：</a:t>
            </a:r>
            <a:r>
              <a:rPr lang="zh-CN" altLang="en-US"/>
              <a:t>广西产含量极高，均值21.757 </a:t>
            </a:r>
            <a:r>
              <a:rPr lang="en-US" altLang="zh-CN"/>
              <a:t>mg/g，</a:t>
            </a:r>
            <a:r>
              <a:rPr lang="zh-CN" altLang="en-US"/>
              <a:t>单样本区间 11.31~27.80 </a:t>
            </a:r>
            <a:r>
              <a:rPr lang="en-US" altLang="zh-CN"/>
              <a:t>mg/g；</a:t>
            </a:r>
            <a:r>
              <a:rPr lang="zh-CN" altLang="en-US"/>
              <a:t>安徽 / 河南 / 湖北产含量极低，均值仅 0.03~0.23 </a:t>
            </a:r>
            <a:r>
              <a:rPr lang="en-US" altLang="zh-CN"/>
              <a:t>mg/g，</a:t>
            </a:r>
            <a:r>
              <a:rPr lang="zh-CN" altLang="en-US"/>
              <a:t>单样本最高仅 0.66 </a:t>
            </a:r>
            <a:r>
              <a:rPr lang="en-US" altLang="zh-CN"/>
              <a:t>mg/g。</a:t>
            </a:r>
            <a:r>
              <a:rPr lang="zh-CN" altLang="en-US"/>
              <a:t>二者含量相差 30~200 倍，数值区间完全没有重叠。</a:t>
            </a:r>
            <a:r>
              <a:rPr lang="zh-CN" altLang="en-US" b="1"/>
              <a:t>只要桑皮苷 </a:t>
            </a:r>
            <a:r>
              <a:rPr lang="en-US" altLang="zh-CN" b="1"/>
              <a:t>A＞10 mg/g，</a:t>
            </a:r>
            <a:r>
              <a:rPr lang="zh-CN" altLang="en-US" b="1"/>
              <a:t>可直接判定为广西产；桑皮苷 </a:t>
            </a:r>
            <a:r>
              <a:rPr lang="en-US" altLang="zh-CN" b="1"/>
              <a:t>A＜1 mg/g，</a:t>
            </a:r>
            <a:r>
              <a:rPr lang="zh-CN" altLang="en-US" b="1"/>
              <a:t>则确定为安徽 / 河南 / 湖北产地</a:t>
            </a:r>
            <a:r>
              <a:rPr lang="zh-CN" altLang="en-US"/>
              <a:t>。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 b="1"/>
              <a:t>桑根酮</a:t>
            </a:r>
            <a:r>
              <a:rPr lang="en-US" altLang="zh-CN" b="1"/>
              <a:t>C</a:t>
            </a:r>
            <a:r>
              <a:rPr lang="zh-CN" altLang="en-US"/>
              <a:t>：广西产几乎不含</a:t>
            </a:r>
            <a:r>
              <a:rPr lang="en-US" altLang="zh-CN"/>
              <a:t>（</a:t>
            </a:r>
            <a:r>
              <a:rPr lang="zh-CN" altLang="en-US"/>
              <a:t>全部＜0.1 </a:t>
            </a:r>
            <a:r>
              <a:rPr lang="en-US" altLang="zh-CN"/>
              <a:t>mg/g），</a:t>
            </a:r>
            <a:r>
              <a:rPr lang="zh-CN" altLang="en-US"/>
              <a:t>可作为广西产地的二次验证指标；河南、湖北产桑根酮 </a:t>
            </a:r>
            <a:r>
              <a:rPr lang="en-US" altLang="zh-CN"/>
              <a:t>C </a:t>
            </a:r>
            <a:r>
              <a:rPr lang="zh-CN" altLang="en-US"/>
              <a:t>普遍＞1.5 </a:t>
            </a:r>
            <a:r>
              <a:rPr lang="en-US" altLang="zh-CN"/>
              <a:t>mg/g，</a:t>
            </a:r>
            <a:r>
              <a:rPr lang="zh-CN" altLang="en-US"/>
              <a:t>安徽多在 0.1~2.2 </a:t>
            </a:r>
            <a:r>
              <a:rPr lang="en-US" altLang="zh-CN"/>
              <a:t>mg/g，</a:t>
            </a:r>
            <a:r>
              <a:rPr lang="zh-CN" altLang="en-US"/>
              <a:t>是区分 “河南 / 湖北” 与 “安徽” 的核心指标。</a:t>
            </a:r>
            <a:endParaRPr lang="zh-CN" altLang="en-US"/>
          </a:p>
          <a:p>
            <a:pPr fontAlgn="auto">
              <a:lnSpc>
                <a:spcPts val="3360"/>
              </a:lnSpc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5924550"/>
            <a:ext cx="11080750" cy="82994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400"/>
              <a:t>中医科学院，基于熵权-</a:t>
            </a:r>
            <a:r>
              <a:rPr lang="en-US" altLang="zh-CN" sz="2400"/>
              <a:t>TOPSIS </a:t>
            </a:r>
            <a:r>
              <a:rPr lang="zh-CN" altLang="en-US" sz="2400"/>
              <a:t>对不同产地桑白皮药材的品质评价，中国实验方剂杂志，</a:t>
            </a:r>
            <a:r>
              <a:rPr lang="en-US" altLang="zh-CN" sz="2400"/>
              <a:t>2023</a:t>
            </a:r>
            <a:endParaRPr lang="en-US" altLang="zh-CN" sz="24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>
                <a:sym typeface="+mn-ea"/>
              </a:rPr>
              <a:t>八、不同产地桑白皮的性状区别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b="1"/>
              <a:t>小结</a:t>
            </a:r>
            <a:endParaRPr lang="zh-CN" altLang="en-US" b="1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zh-CN" altLang="en-US" b="1"/>
              <a:t>桑白皮性状的产地差异的决定因素包括：</a:t>
            </a:r>
            <a:endParaRPr lang="zh-CN" altLang="en-US" b="1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en-US" altLang="zh-CN"/>
              <a:t>1.</a:t>
            </a:r>
            <a:r>
              <a:rPr lang="zh-CN" altLang="en-US"/>
              <a:t>遗传因素：栽培品种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en-US" altLang="zh-CN"/>
              <a:t>2.</a:t>
            </a:r>
            <a:r>
              <a:rPr lang="zh-CN" altLang="en-US"/>
              <a:t>生长年限：同一株的根皮年限是不同的，根皮年限和植株年限不同</a:t>
            </a:r>
            <a:endParaRPr lang="zh-CN" altLang="en-US"/>
          </a:p>
          <a:p>
            <a:pPr fontAlgn="auto">
              <a:lnSpc>
                <a:spcPts val="3360"/>
              </a:lnSpc>
              <a:buFont typeface="Wingdings" panose="05000000000000000000" charset="0"/>
              <a:buChar char="u"/>
            </a:pPr>
            <a:r>
              <a:rPr lang="en-US" altLang="zh-CN"/>
              <a:t>3.</a:t>
            </a:r>
            <a:r>
              <a:rPr lang="zh-CN" altLang="en-US"/>
              <a:t>加工选货：选货等人为因素影响产地性状差异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九、栽培桑白皮与野生桑白皮的区别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这个问题没有资料，我也没有经验。大家讨论</a:t>
            </a:r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20"/>
          </a:xfrm>
        </p:spPr>
        <p:txBody>
          <a:bodyPr>
            <a:normAutofit fontScale="90000"/>
          </a:bodyPr>
          <a:p>
            <a:r>
              <a:rPr lang="zh-CN" altLang="en-US"/>
              <a:t>问题与讨论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4906645"/>
          </a:xfrm>
        </p:spPr>
        <p:txBody>
          <a:bodyPr>
            <a:normAutofit/>
          </a:bodyPr>
          <a:p>
            <a:pPr fontAlgn="auto">
              <a:lnSpc>
                <a:spcPts val="3360"/>
              </a:lnSpc>
            </a:pPr>
            <a:r>
              <a:rPr lang="en-US" altLang="zh-CN"/>
              <a:t>1.</a:t>
            </a:r>
            <a:r>
              <a:rPr lang="zh-CN" altLang="en-US"/>
              <a:t>桑白皮性状中哪些是特征？</a:t>
            </a:r>
            <a:r>
              <a:rPr lang="en-US" altLang="zh-CN"/>
              <a:t>“</a:t>
            </a:r>
            <a:r>
              <a:rPr lang="zh-CN" altLang="en-US"/>
              <a:t>特</a:t>
            </a:r>
            <a:r>
              <a:rPr lang="en-US" altLang="zh-CN"/>
              <a:t>”</a:t>
            </a:r>
            <a:r>
              <a:rPr lang="zh-CN" altLang="en-US"/>
              <a:t>到门、科、属、种的哪个水平？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en-US" altLang="zh-CN"/>
              <a:t>2.</a:t>
            </a:r>
            <a:r>
              <a:rPr lang="zh-CN" altLang="en-US"/>
              <a:t>各种鉴定方法（显微、</a:t>
            </a:r>
            <a:r>
              <a:rPr lang="en-US" altLang="zh-CN"/>
              <a:t>TLC</a:t>
            </a:r>
            <a:r>
              <a:rPr lang="zh-CN" altLang="en-US"/>
              <a:t>、</a:t>
            </a:r>
            <a:r>
              <a:rPr lang="en-US" altLang="zh-CN"/>
              <a:t>HPLC</a:t>
            </a:r>
            <a:r>
              <a:rPr lang="zh-CN" altLang="en-US"/>
              <a:t>、</a:t>
            </a:r>
            <a:r>
              <a:rPr lang="en-US" altLang="zh-CN"/>
              <a:t>LC-MS</a:t>
            </a:r>
            <a:r>
              <a:rPr lang="zh-CN" altLang="en-US"/>
              <a:t>、</a:t>
            </a:r>
            <a:r>
              <a:rPr lang="en-US" altLang="zh-CN"/>
              <a:t>DNA</a:t>
            </a:r>
            <a:r>
              <a:rPr lang="zh-CN" altLang="en-US"/>
              <a:t>、分类）中，特征中能</a:t>
            </a:r>
            <a:r>
              <a:rPr lang="en-US" altLang="zh-CN"/>
              <a:t>“</a:t>
            </a:r>
            <a:r>
              <a:rPr lang="zh-CN" altLang="en-US"/>
              <a:t>特</a:t>
            </a:r>
            <a:r>
              <a:rPr lang="en-US" altLang="zh-CN"/>
              <a:t>”</a:t>
            </a:r>
            <a:r>
              <a:rPr lang="zh-CN" altLang="en-US"/>
              <a:t>到何种水平？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）显微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/>
              <a:t>TLC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</a:t>
            </a:r>
            <a:r>
              <a:rPr lang="en-US" altLang="zh-CN"/>
              <a:t>HPLC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</a:t>
            </a:r>
            <a:r>
              <a:rPr lang="en-US" altLang="zh-CN"/>
              <a:t>LC-MS</a:t>
            </a:r>
            <a:endParaRPr lang="en-US" altLang="zh-CN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</a:t>
            </a:r>
            <a:r>
              <a:rPr lang="en-US" altLang="zh-CN"/>
              <a:t>DNA</a:t>
            </a:r>
            <a:r>
              <a:rPr lang="zh-CN" altLang="en-US"/>
              <a:t>条形码</a:t>
            </a:r>
            <a:endParaRPr lang="zh-CN" altLang="en-US"/>
          </a:p>
          <a:p>
            <a:pPr fontAlgn="auto">
              <a:lnSpc>
                <a:spcPts val="3360"/>
              </a:lnSpc>
            </a:pPr>
            <a:r>
              <a:rPr lang="zh-CN" altLang="en-US"/>
              <a:t>（</a:t>
            </a:r>
            <a:r>
              <a:rPr lang="en-US" altLang="zh-CN"/>
              <a:t>6</a:t>
            </a:r>
            <a:r>
              <a:rPr lang="zh-CN" altLang="en-US"/>
              <a:t>）植物分类</a:t>
            </a:r>
            <a:endParaRPr lang="zh-CN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十、桑白皮产生真菌毒素的原因及质量分析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145" y="1691005"/>
            <a:ext cx="11413490" cy="28841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0715" y="4963795"/>
            <a:ext cx="11278870" cy="1383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en-US" altLang="zh-CN" sz="2800"/>
              <a:t>Fungal Growth and Mycotoxins Production: Types, Toxicities,Control trategies, and Detoxification </a:t>
            </a:r>
            <a:r>
              <a:rPr lang="zh-CN" altLang="en-US" sz="2800"/>
              <a:t>真菌生长与霉菌毒素生成：种类、毒性、防控策略及脱毒技术</a:t>
            </a:r>
            <a:endParaRPr lang="zh-CN" altLang="en-US" sz="28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十、桑白皮产生真菌毒素的原因及质量分析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985" y="1546225"/>
            <a:ext cx="10965815" cy="4846320"/>
          </a:xfrm>
        </p:spPr>
        <p:txBody>
          <a:bodyPr>
            <a:noAutofit/>
          </a:bodyPr>
          <a:p>
            <a:r>
              <a:rPr lang="en-US" altLang="zh-CN" sz="1100"/>
              <a:t>1.</a:t>
            </a:r>
            <a:r>
              <a:rPr lang="zh-CN" altLang="en-US" sz="1100"/>
              <a:t> </a:t>
            </a:r>
            <a:r>
              <a:rPr lang="zh-CN" altLang="en-US" sz="2300" b="1"/>
              <a:t>生长繁殖的水分活度范围</a:t>
            </a:r>
            <a:r>
              <a:rPr lang="zh-CN" altLang="en-US" sz="2300"/>
              <a:t>：黄曲霉是耐旱性极强的霉菌，耐受下限远低于普通细菌、酵母菌。最低生长下限约 0.77~0.82 </a:t>
            </a:r>
            <a:r>
              <a:rPr lang="en-US" altLang="zh-CN" sz="2300"/>
              <a:t>Aw。</a:t>
            </a:r>
            <a:r>
              <a:rPr lang="zh-CN" altLang="en-US" sz="2300"/>
              <a:t>不同基质略有差异，在糙米、坚果等高脂高糖基质上，最低可在 0.80 </a:t>
            </a:r>
            <a:r>
              <a:rPr lang="en-US" altLang="zh-CN" sz="2300"/>
              <a:t>Aw </a:t>
            </a:r>
            <a:r>
              <a:rPr lang="zh-CN" altLang="en-US" sz="2300"/>
              <a:t>左右缓慢生长；营养单一的基质上最低约 0.82 </a:t>
            </a:r>
            <a:r>
              <a:rPr lang="en-US" altLang="zh-CN" sz="2300"/>
              <a:t>Aw。</a:t>
            </a:r>
            <a:r>
              <a:rPr lang="zh-CN" altLang="en-US" sz="2300"/>
              <a:t>最适生长区间：0.93~0.98 </a:t>
            </a:r>
            <a:r>
              <a:rPr lang="en-US" altLang="zh-CN" sz="2300"/>
              <a:t>Aw，30℃</a:t>
            </a:r>
            <a:r>
              <a:rPr lang="zh-CN" altLang="en-US" sz="2300"/>
              <a:t>条件下黄曲霉生长速度达到最快，菌丝、孢子大量生成。</a:t>
            </a:r>
            <a:endParaRPr lang="zh-CN" altLang="en-US" sz="2300"/>
          </a:p>
          <a:p>
            <a:r>
              <a:rPr lang="zh-CN" altLang="en-US" sz="2300" b="1"/>
              <a:t>2. 产毒的水分活度范围</a:t>
            </a:r>
            <a:r>
              <a:rPr lang="zh-CN" altLang="en-US" sz="2300"/>
              <a:t>：黄曲霉生长不代表一定会产生黄曲霉毒素，产毒对水分活度的要求比生长更苛刻，区间更窄。最低产毒下限约 0.83~0.87 </a:t>
            </a:r>
            <a:r>
              <a:rPr lang="en-US" altLang="zh-CN" sz="2300"/>
              <a:t>Aw。</a:t>
            </a:r>
            <a:r>
              <a:rPr lang="zh-CN" altLang="en-US" sz="2300"/>
              <a:t>低于这个值，即使黄曲霉能勉强存活生长，也无法合成黄曲霉毒素。最适产毒区间0.90~0.95 </a:t>
            </a:r>
            <a:r>
              <a:rPr lang="en-US" altLang="zh-CN" sz="2300"/>
              <a:t>Aw，</a:t>
            </a:r>
            <a:r>
              <a:rPr lang="zh-CN" altLang="en-US" sz="2300"/>
              <a:t>在24~30℃的适宜温度时，黄曲霉毒素生成量最高。</a:t>
            </a:r>
            <a:endParaRPr lang="zh-CN" altLang="en-US" sz="2300"/>
          </a:p>
          <a:p>
            <a:r>
              <a:rPr lang="en-US" altLang="zh-CN" sz="2300" b="1"/>
              <a:t>3.</a:t>
            </a:r>
            <a:r>
              <a:rPr lang="zh-CN" altLang="en-US" sz="2300" b="1"/>
              <a:t>中药材 贮藏参考</a:t>
            </a:r>
            <a:r>
              <a:rPr lang="zh-CN" altLang="en-US" sz="2300"/>
              <a:t>：控制物料水分活度＜0.70 </a:t>
            </a:r>
            <a:r>
              <a:rPr lang="en-US" altLang="zh-CN" sz="2300"/>
              <a:t>Aw，</a:t>
            </a:r>
            <a:r>
              <a:rPr lang="zh-CN" altLang="en-US" sz="2300"/>
              <a:t>可完全抑制黄曲霉生长，实现长期安全贮藏；控制在 0.80 </a:t>
            </a:r>
            <a:r>
              <a:rPr lang="en-US" altLang="zh-CN" sz="2300"/>
              <a:t>Aw </a:t>
            </a:r>
            <a:r>
              <a:rPr lang="zh-CN" altLang="en-US" sz="2300"/>
              <a:t>以下，即使有少量孢子污染，也不会产生黄曲霉毒素，无安全风险。</a:t>
            </a:r>
            <a:endParaRPr lang="zh-CN" altLang="en-US" sz="2300"/>
          </a:p>
          <a:p>
            <a:r>
              <a:rPr lang="zh-CN" altLang="en-US" sz="2300" b="1"/>
              <a:t>不能用含水量直接替代水分活度判断：同样 13% 的含水量，淀粉类粮食和纤维、多糖含量高的中药材，水分活度差异很大，防霉判定以水分活度为准更准确。</a:t>
            </a:r>
            <a:endParaRPr lang="zh-CN" altLang="en-US" sz="2300" b="1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十、桑白皮产生真菌毒素的原因及质量分析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617855" y="1502410"/>
          <a:ext cx="10735945" cy="518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8285"/>
                <a:gridCol w="921766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/>
                        <a:t>水分</a:t>
                      </a:r>
                      <a:endParaRPr lang="zh-CN" altLang="en-US" sz="2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800">
                          <a:sym typeface="+mn-ea"/>
                        </a:rPr>
                        <a:t>　不得过10.0%（通则0832第二法）。</a:t>
                      </a:r>
                      <a:endParaRPr lang="zh-CN" altLang="en-US" sz="2800"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460375" y="2326640"/>
            <a:ext cx="1105090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/>
              <a:t>真实世界质量问题</a:t>
            </a:r>
            <a:endParaRPr lang="zh-CN" altLang="en-US" sz="2800" b="1"/>
          </a:p>
          <a:p>
            <a:r>
              <a:rPr lang="zh-CN" altLang="en-US" sz="2800" b="1"/>
              <a:t>（</a:t>
            </a:r>
            <a:r>
              <a:rPr lang="en-US" altLang="zh-CN" sz="2800" b="1"/>
              <a:t>1</a:t>
            </a:r>
            <a:r>
              <a:rPr lang="zh-CN" altLang="en-US" sz="2800" b="1"/>
              <a:t>）黄曲霉素，如何产生？</a:t>
            </a:r>
            <a:endParaRPr lang="zh-CN" altLang="en-US" sz="2800" b="1"/>
          </a:p>
          <a:p>
            <a:r>
              <a:rPr lang="zh-CN" altLang="en-US" sz="2800" b="1"/>
              <a:t>（</a:t>
            </a:r>
            <a:r>
              <a:rPr lang="en-US" altLang="zh-CN" sz="2800" b="1"/>
              <a:t>2</a:t>
            </a:r>
            <a:r>
              <a:rPr lang="zh-CN" altLang="en-US" sz="2800" b="1"/>
              <a:t>）熏硫能预防黄曲霉素超标吗？</a:t>
            </a:r>
            <a:endParaRPr lang="zh-CN" altLang="en-US" sz="2800" b="1"/>
          </a:p>
          <a:p>
            <a:endParaRPr lang="zh-CN" altLang="en-US" sz="2800" b="1"/>
          </a:p>
          <a:p>
            <a:pPr indent="0" fontAlgn="auto">
              <a:lnSpc>
                <a:spcPts val="3360"/>
              </a:lnSpc>
            </a:pPr>
            <a:r>
              <a:rPr lang="en-US" altLang="zh-CN" sz="2800" b="1"/>
              <a:t>1.</a:t>
            </a:r>
            <a:r>
              <a:rPr lang="zh-CN" altLang="en-US" sz="2800" b="1"/>
              <a:t>桑白皮加工阶段：</a:t>
            </a:r>
            <a:r>
              <a:rPr lang="zh-CN" altLang="en-US" sz="2800"/>
              <a:t>片比筒不利黄曲霉菌产毒（黑暗环境有利于黄曲霉菌生长和产毒），快速烘干</a:t>
            </a:r>
            <a:r>
              <a:rPr lang="zh-CN" altLang="en-US" sz="2800">
                <a:sym typeface="+mn-ea"/>
              </a:rPr>
              <a:t>不利黄曲霉菌产毒</a:t>
            </a:r>
            <a:endParaRPr lang="zh-CN" altLang="en-US" sz="2800"/>
          </a:p>
          <a:p>
            <a:pPr indent="0" fontAlgn="auto">
              <a:lnSpc>
                <a:spcPts val="3360"/>
              </a:lnSpc>
            </a:pPr>
            <a:r>
              <a:rPr lang="en-US" altLang="zh-CN" sz="2800" b="1"/>
              <a:t>2.</a:t>
            </a:r>
            <a:r>
              <a:rPr lang="zh-CN" altLang="en-US" sz="2800" b="1"/>
              <a:t>桑白皮储藏阶段：</a:t>
            </a:r>
            <a:r>
              <a:rPr lang="zh-CN" altLang="en-US" sz="2800"/>
              <a:t>控制水分活度（</a:t>
            </a:r>
            <a:r>
              <a:rPr lang="en-US" altLang="zh-CN" sz="2800"/>
              <a:t>&lt;0.80AW</a:t>
            </a:r>
            <a:r>
              <a:rPr lang="zh-CN" altLang="en-US" sz="2800"/>
              <a:t>）和储藏温度（</a:t>
            </a:r>
            <a:r>
              <a:rPr lang="en-US" altLang="zh-CN" sz="2800"/>
              <a:t>&lt;15℃</a:t>
            </a:r>
            <a:r>
              <a:rPr lang="zh-CN" altLang="en-US" sz="2800"/>
              <a:t>）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4400"/>
              <a:t>谢谢倾听</a:t>
            </a:r>
            <a:endParaRPr lang="zh-CN" altLang="en-US" sz="4400"/>
          </a:p>
          <a:p>
            <a:r>
              <a:rPr lang="en-US" altLang="zh-CN" sz="4400"/>
              <a:t>        </a:t>
            </a:r>
            <a:r>
              <a:rPr lang="zh-CN" altLang="en-US" sz="4400"/>
              <a:t>共同讨论</a:t>
            </a:r>
            <a:endParaRPr lang="zh-CN" altLang="en-US" sz="4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ags/tag2.xml><?xml version="1.0" encoding="utf-8"?>
<p:tagLst xmlns:p="http://schemas.openxmlformats.org/presentationml/2006/main">
  <p:tag name="TABLE_ENDDRAG_ORIGIN_RECT" val="429*120"/>
  <p:tag name="TABLE_ENDDRAG_RECT" val="73*245*429*120"/>
</p:tagLst>
</file>

<file path=ppt/tags/tag3.xml><?xml version="1.0" encoding="utf-8"?>
<p:tagLst xmlns:p="http://schemas.openxmlformats.org/presentationml/2006/main">
  <p:tag name="TABLE_ENDDRAG_ORIGIN_RECT" val="429*120"/>
  <p:tag name="TABLE_ENDDRAG_RECT" val="73*245*429*120"/>
</p:tagLst>
</file>

<file path=ppt/tags/tag4.xml><?xml version="1.0" encoding="utf-8"?>
<p:tagLst xmlns:p="http://schemas.openxmlformats.org/presentationml/2006/main">
  <p:tag name="TABLE_ENDDRAG_ORIGIN_RECT" val="772*204"/>
  <p:tag name="TABLE_ENDDRAG_RECT" val="89*270*772*204"/>
</p:tagLst>
</file>

<file path=ppt/tags/tag5.xml><?xml version="1.0" encoding="utf-8"?>
<p:tagLst xmlns:p="http://schemas.openxmlformats.org/presentationml/2006/main">
  <p:tag name="TABLE_ENDDRAG_ORIGIN_RECT" val="857*275"/>
  <p:tag name="TABLE_ENDDRAG_RECT" val="27*96*857*275"/>
</p:tagLst>
</file>

<file path=ppt/tags/tag6.xml><?xml version="1.0" encoding="utf-8"?>
<p:tagLst xmlns:p="http://schemas.openxmlformats.org/presentationml/2006/main">
  <p:tag name="TABLE_ENDDRAG_ORIGIN_RECT" val="932*415"/>
  <p:tag name="TABLE_ENDDRAG_RECT" val="17*76*932*415"/>
</p:tagLst>
</file>

<file path=ppt/tags/tag7.xml><?xml version="1.0" encoding="utf-8"?>
<p:tagLst xmlns:p="http://schemas.openxmlformats.org/presentationml/2006/main">
  <p:tag name="TABLE_ENDDRAG_ORIGIN_RECT" val="932*415"/>
  <p:tag name="TABLE_ENDDRAG_RECT" val="17*76*932*415"/>
</p:tagLst>
</file>

<file path=ppt/tags/tag8.xml><?xml version="1.0" encoding="utf-8"?>
<p:tagLst xmlns:p="http://schemas.openxmlformats.org/presentationml/2006/main">
  <p:tag name="TABLE_ENDDRAG_ORIGIN_RECT" val="480*210"/>
  <p:tag name="TABLE_ENDDRAG_RECT" val="335*165*480*21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13600</Words>
  <Application>WPS 演示</Application>
  <PresentationFormat>宽屏</PresentationFormat>
  <Paragraphs>812</Paragraphs>
  <Slides>73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73</vt:i4>
      </vt:variant>
    </vt:vector>
  </HeadingPairs>
  <TitlesOfParts>
    <vt:vector size="86" baseType="lpstr">
      <vt:lpstr>Arial</vt:lpstr>
      <vt:lpstr>宋体</vt:lpstr>
      <vt:lpstr>Wingdings</vt:lpstr>
      <vt:lpstr>Wingdings</vt:lpstr>
      <vt:lpstr>微软雅黑</vt:lpstr>
      <vt:lpstr>Calibri</vt:lpstr>
      <vt:lpstr>Arial Unicode MS</vt:lpstr>
      <vt:lpstr>黑体</vt:lpstr>
      <vt:lpstr>ui-sans-serif</vt:lpstr>
      <vt:lpstr>Segoe Print</vt:lpstr>
      <vt:lpstr>MS PGothic</vt:lpstr>
      <vt:lpstr>ui-sans-serif</vt:lpstr>
      <vt:lpstr>WPS</vt:lpstr>
      <vt:lpstr>桑白皮的鉴定和质量</vt:lpstr>
      <vt:lpstr>桑白皮药材和饮片</vt:lpstr>
      <vt:lpstr>桑白皮配方颗粒</vt:lpstr>
      <vt:lpstr>目录</vt:lpstr>
      <vt:lpstr>一、桑白皮的来源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二、桑白皮品种的变异情况</vt:lpstr>
      <vt:lpstr>三、桑白皮的产地分布及历史变迁</vt:lpstr>
      <vt:lpstr>三、桑白皮的产地分布及历史变迁</vt:lpstr>
      <vt:lpstr>三、桑白皮的产地分布及历史变迁</vt:lpstr>
      <vt:lpstr>四、桑白皮的产地加工</vt:lpstr>
      <vt:lpstr>四、桑白皮的产地加工：采收</vt:lpstr>
      <vt:lpstr>四、桑白皮的产地加工</vt:lpstr>
      <vt:lpstr>四、桑白皮的产地加工</vt:lpstr>
      <vt:lpstr>四、桑白皮的产地加工</vt:lpstr>
      <vt:lpstr>五、桑白皮药材市场现状</vt:lpstr>
      <vt:lpstr>五、桑白皮药材市场现状</vt:lpstr>
      <vt:lpstr>五、桑白皮药材市场现状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六、桑白皮原植物与药材的鉴定</vt:lpstr>
      <vt:lpstr>PowerPoint 演示文稿</vt:lpstr>
      <vt:lpstr>六、桑白皮原植物与药材的鉴定</vt:lpstr>
      <vt:lpstr>六、桑白皮原植物与药材的鉴定</vt:lpstr>
      <vt:lpstr>PowerPoint 演示文稿</vt:lpstr>
      <vt:lpstr>六、桑白皮原植物与药材的鉴定</vt:lpstr>
      <vt:lpstr>六、桑白皮原植物与药材的鉴定</vt:lpstr>
      <vt:lpstr>六、桑白皮原植物与药材的鉴定</vt:lpstr>
      <vt:lpstr>PowerPoint 演示文稿</vt:lpstr>
      <vt:lpstr>六、桑白皮原植物与药材的鉴定</vt:lpstr>
      <vt:lpstr>六、桑白皮原植物与药材的鉴定</vt:lpstr>
      <vt:lpstr>桑白皮：药材</vt:lpstr>
      <vt:lpstr>桑白皮：伪品基原</vt:lpstr>
      <vt:lpstr>桑白皮：伪品药材</vt:lpstr>
      <vt:lpstr>桑白皮：伪品药材</vt:lpstr>
      <vt:lpstr>PowerPoint 演示文稿</vt:lpstr>
      <vt:lpstr>六、桑白皮原植物与药材的鉴定</vt:lpstr>
      <vt:lpstr>桑白皮：伪品药材</vt:lpstr>
      <vt:lpstr>桑白皮：伪品药材</vt:lpstr>
      <vt:lpstr>桑白皮：伪品药材</vt:lpstr>
      <vt:lpstr>桑白皮：伪品药材</vt:lpstr>
      <vt:lpstr>PowerPoint 演示文稿</vt:lpstr>
      <vt:lpstr>桑白皮：伪品药材</vt:lpstr>
      <vt:lpstr>六、桑白皮原植物与药材的鉴定</vt:lpstr>
      <vt:lpstr>PowerPoint 演示文稿</vt:lpstr>
      <vt:lpstr>桑白皮：产地</vt:lpstr>
      <vt:lpstr>桑白皮：产地鉴别</vt:lpstr>
      <vt:lpstr>桑白皮：产地鉴别</vt:lpstr>
      <vt:lpstr>PowerPoint 演示文稿</vt:lpstr>
      <vt:lpstr>PowerPoint 演示文稿</vt:lpstr>
      <vt:lpstr>PowerPoint 演示文稿</vt:lpstr>
      <vt:lpstr>PowerPoint 演示文稿</vt:lpstr>
      <vt:lpstr>问题与讨论</vt:lpstr>
      <vt:lpstr>桑白皮：质量</vt:lpstr>
      <vt:lpstr>PowerPoint 演示文稿</vt:lpstr>
      <vt:lpstr>十、桑白皮产生真菌毒素的原因及质量分析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max_l</dc:creator>
  <cp:lastModifiedBy>刘春生</cp:lastModifiedBy>
  <cp:revision>63</cp:revision>
  <dcterms:created xsi:type="dcterms:W3CDTF">2023-08-09T12:44:00Z</dcterms:created>
  <dcterms:modified xsi:type="dcterms:W3CDTF">2026-07-10T00:34:31Z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669AF1199DA0412B9976B117659F0E51_13</vt:lpwstr>
  </property>
</Properties>
</file>